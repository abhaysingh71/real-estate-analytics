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4630400" cy="8229600"/>
  <p:notesSz cx="8229600" cy="14630400"/>
  <p:embeddedFontLst>
    <p:embeddedFont>
      <p:font typeface="Calisto MT" panose="02040603050505030304" pitchFamily="18" charset="0"/>
      <p:regular r:id="rId15"/>
      <p:bold r:id="rId16"/>
      <p:italic r:id="rId17"/>
      <p:boldItalic r:id="rId18"/>
    </p:embeddedFont>
    <p:embeddedFont>
      <p:font typeface="Inter"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6355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svg"/><Relationship Id="rId3" Type="http://schemas.openxmlformats.org/officeDocument/2006/relationships/image" Target="../media/image12.png"/><Relationship Id="rId7" Type="http://schemas.openxmlformats.org/officeDocument/2006/relationships/image" Target="../media/image16.svg"/><Relationship Id="rId12"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5.png"/><Relationship Id="rId11" Type="http://schemas.openxmlformats.org/officeDocument/2006/relationships/image" Target="../media/image20.svg"/><Relationship Id="rId5" Type="http://schemas.openxmlformats.org/officeDocument/2006/relationships/image" Target="../media/image14.sv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1.xml"/><Relationship Id="rId5" Type="http://schemas.openxmlformats.org/officeDocument/2006/relationships/image" Target="../media/image27.sv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657707"/>
            <a:ext cx="7556421" cy="2338864"/>
          </a:xfrm>
          <a:prstGeom prst="rect">
            <a:avLst/>
          </a:prstGeom>
          <a:noFill/>
          <a:ln/>
        </p:spPr>
        <p:txBody>
          <a:bodyPr wrap="square" lIns="0" tIns="0" rIns="0" bIns="0" rtlCol="0" anchor="t"/>
          <a:lstStyle/>
          <a:p>
            <a:pPr marL="0" indent="0" algn="l">
              <a:lnSpc>
                <a:spcPts val="6100"/>
              </a:lnSpc>
              <a:buNone/>
            </a:pPr>
            <a:r>
              <a:rPr lang="en-US" sz="4900" b="1" dirty="0">
                <a:solidFill>
                  <a:srgbClr val="F95F88"/>
                </a:solidFill>
                <a:latin typeface="Calisto MT" panose="02040603050505030304" pitchFamily="18" charset="0"/>
                <a:ea typeface="Petrona Bold" pitchFamily="34" charset="-122"/>
                <a:cs typeface="Petrona Bold" pitchFamily="34" charset="-120"/>
              </a:rPr>
              <a:t>Real Estate Property Analytics and Price Prediction System</a:t>
            </a:r>
            <a:endParaRPr lang="en-US" sz="4900" dirty="0">
              <a:latin typeface="Calisto MT" panose="02040603050505030304" pitchFamily="18" charset="0"/>
            </a:endParaRPr>
          </a:p>
        </p:txBody>
      </p:sp>
      <p:sp>
        <p:nvSpPr>
          <p:cNvPr id="4" name="Text 1"/>
          <p:cNvSpPr/>
          <p:nvPr/>
        </p:nvSpPr>
        <p:spPr>
          <a:xfrm>
            <a:off x="6280190" y="4336733"/>
            <a:ext cx="7556421" cy="453509"/>
          </a:xfrm>
          <a:prstGeom prst="rect">
            <a:avLst/>
          </a:prstGeom>
          <a:noFill/>
          <a:ln/>
        </p:spPr>
        <p:txBody>
          <a:bodyPr wrap="none" lIns="0" tIns="0" rIns="0" bIns="0" rtlCol="0" anchor="t"/>
          <a:lstStyle/>
          <a:p>
            <a:pPr marL="0" indent="0" algn="l">
              <a:lnSpc>
                <a:spcPts val="3550"/>
              </a:lnSpc>
              <a:buNone/>
            </a:pPr>
            <a:r>
              <a:rPr lang="en-US" sz="2200" dirty="0">
                <a:solidFill>
                  <a:srgbClr val="272525"/>
                </a:solidFill>
                <a:latin typeface="Inter" pitchFamily="34" charset="0"/>
                <a:ea typeface="Inter" pitchFamily="34" charset="-122"/>
                <a:cs typeface="Inter" pitchFamily="34" charset="-120"/>
              </a:rPr>
              <a:t>A Machine Learning &amp; Data Analytics-Based Project</a:t>
            </a:r>
            <a:endParaRPr lang="en-US" sz="2200" dirty="0"/>
          </a:p>
        </p:txBody>
      </p:sp>
      <p:sp>
        <p:nvSpPr>
          <p:cNvPr id="5" name="Text 2"/>
          <p:cNvSpPr/>
          <p:nvPr/>
        </p:nvSpPr>
        <p:spPr>
          <a:xfrm>
            <a:off x="6280190" y="5045393"/>
            <a:ext cx="7556421" cy="362903"/>
          </a:xfrm>
          <a:prstGeom prst="rect">
            <a:avLst/>
          </a:prstGeom>
          <a:noFill/>
          <a:ln/>
        </p:spPr>
        <p:txBody>
          <a:bodyPr wrap="none" lIns="0" tIns="0" rIns="0" bIns="0" rtlCol="0" anchor="t"/>
          <a:lstStyle/>
          <a:p>
            <a:pPr marL="0" indent="0" algn="l">
              <a:lnSpc>
                <a:spcPts val="2850"/>
              </a:lnSpc>
              <a:buNone/>
            </a:pPr>
            <a:r>
              <a:rPr lang="en-US" sz="1750" b="1" dirty="0">
                <a:solidFill>
                  <a:srgbClr val="272525"/>
                </a:solidFill>
                <a:latin typeface="Inter" pitchFamily="34" charset="0"/>
                <a:ea typeface="Inter" pitchFamily="34" charset="-122"/>
                <a:cs typeface="Inter" pitchFamily="34" charset="-120"/>
              </a:rPr>
              <a:t>Presenter:</a:t>
            </a:r>
            <a:r>
              <a:rPr lang="en-US" sz="1750" dirty="0">
                <a:solidFill>
                  <a:srgbClr val="272525"/>
                </a:solidFill>
                <a:latin typeface="Inter" pitchFamily="34" charset="0"/>
                <a:ea typeface="Inter" pitchFamily="34" charset="-122"/>
                <a:cs typeface="Inter" pitchFamily="34" charset="-120"/>
              </a:rPr>
              <a:t> Abhay Singh</a:t>
            </a:r>
            <a:endParaRPr lang="en-US" sz="1750" dirty="0"/>
          </a:p>
        </p:txBody>
      </p:sp>
      <p:sp>
        <p:nvSpPr>
          <p:cNvPr id="6" name="Text 3"/>
          <p:cNvSpPr/>
          <p:nvPr/>
        </p:nvSpPr>
        <p:spPr>
          <a:xfrm>
            <a:off x="6280190" y="6208990"/>
            <a:ext cx="7556421" cy="362903"/>
          </a:xfrm>
          <a:prstGeom prst="rect">
            <a:avLst/>
          </a:prstGeom>
          <a:noFill/>
          <a:ln/>
        </p:spPr>
        <p:txBody>
          <a:bodyPr wrap="none" lIns="0" tIns="0" rIns="0" bIns="0" rtlCol="0" anchor="t"/>
          <a:lstStyle/>
          <a:p>
            <a:pPr>
              <a:lnSpc>
                <a:spcPts val="2850"/>
              </a:lnSpc>
            </a:pPr>
            <a:r>
              <a:rPr lang="en-US" sz="1750" b="1" dirty="0">
                <a:solidFill>
                  <a:srgbClr val="272525"/>
                </a:solidFill>
                <a:latin typeface="Inter" pitchFamily="34" charset="0"/>
                <a:ea typeface="Inter" pitchFamily="34" charset="-122"/>
                <a:cs typeface="Inter" pitchFamily="34" charset="-120"/>
              </a:rPr>
              <a:t>Guide: </a:t>
            </a:r>
            <a:r>
              <a:rPr lang="en-US" dirty="0"/>
              <a:t>MS. Shalini Bhartiya </a:t>
            </a:r>
            <a:r>
              <a:rPr lang="en-US" sz="1750" dirty="0">
                <a:solidFill>
                  <a:srgbClr val="272525"/>
                </a:solidFill>
                <a:latin typeface="Inter" pitchFamily="34" charset="0"/>
                <a:ea typeface="Inter" pitchFamily="34" charset="-122"/>
                <a:cs typeface="Inter" pitchFamily="34" charset="-120"/>
              </a:rPr>
              <a:t> </a:t>
            </a:r>
            <a:endParaRPr lang="en-US" sz="1750" dirty="0"/>
          </a:p>
        </p:txBody>
      </p:sp>
      <p:sp>
        <p:nvSpPr>
          <p:cNvPr id="9" name="TextBox 8">
            <a:extLst>
              <a:ext uri="{FF2B5EF4-FFF2-40B4-BE49-F238E27FC236}">
                <a16:creationId xmlns:a16="http://schemas.microsoft.com/office/drawing/2014/main" id="{C62F4CC0-A91F-394E-114E-A85AFB25685A}"/>
              </a:ext>
            </a:extLst>
          </p:cNvPr>
          <p:cNvSpPr txBox="1"/>
          <p:nvPr/>
        </p:nvSpPr>
        <p:spPr>
          <a:xfrm>
            <a:off x="6200078" y="5590936"/>
            <a:ext cx="7315200" cy="430952"/>
          </a:xfrm>
          <a:prstGeom prst="rect">
            <a:avLst/>
          </a:prstGeom>
          <a:noFill/>
        </p:spPr>
        <p:txBody>
          <a:bodyPr wrap="square">
            <a:spAutoFit/>
          </a:bodyPr>
          <a:lstStyle/>
          <a:p>
            <a:pPr marL="0" indent="0" algn="l">
              <a:lnSpc>
                <a:spcPts val="2850"/>
              </a:lnSpc>
              <a:buNone/>
            </a:pPr>
            <a:r>
              <a:rPr lang="en-US" b="1" dirty="0">
                <a:solidFill>
                  <a:srgbClr val="272525"/>
                </a:solidFill>
                <a:latin typeface="Inter" pitchFamily="34" charset="0"/>
                <a:ea typeface="Inter" pitchFamily="34" charset="-122"/>
                <a:cs typeface="Inter" pitchFamily="34" charset="-120"/>
              </a:rPr>
              <a:t>Enrollment ID</a:t>
            </a:r>
            <a:r>
              <a:rPr lang="en-US" sz="1800" b="1" dirty="0">
                <a:solidFill>
                  <a:srgbClr val="272525"/>
                </a:solidFill>
                <a:latin typeface="Inter" pitchFamily="34" charset="0"/>
                <a:ea typeface="Inter" pitchFamily="34" charset="-122"/>
                <a:cs typeface="Inter" pitchFamily="34" charset="-120"/>
              </a:rPr>
              <a:t>:</a:t>
            </a:r>
            <a:r>
              <a:rPr lang="en-US" sz="1800" dirty="0">
                <a:solidFill>
                  <a:srgbClr val="272525"/>
                </a:solidFill>
                <a:latin typeface="Inter" pitchFamily="34" charset="0"/>
                <a:ea typeface="Inter" pitchFamily="34" charset="-122"/>
                <a:cs typeface="Inter" pitchFamily="34" charset="-120"/>
              </a:rPr>
              <a:t> 08117702023</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768679"/>
          </a:xfrm>
          <a:prstGeom prst="rect">
            <a:avLst/>
          </a:prstGeom>
        </p:spPr>
      </p:pic>
      <p:sp>
        <p:nvSpPr>
          <p:cNvPr id="3" name="Text 0"/>
          <p:cNvSpPr/>
          <p:nvPr/>
        </p:nvSpPr>
        <p:spPr>
          <a:xfrm>
            <a:off x="775216" y="3555087"/>
            <a:ext cx="13219564" cy="761405"/>
          </a:xfrm>
          <a:prstGeom prst="rect">
            <a:avLst/>
          </a:prstGeom>
          <a:noFill/>
          <a:ln/>
        </p:spPr>
        <p:txBody>
          <a:bodyPr wrap="none" lIns="0" tIns="0" rIns="0" bIns="0" rtlCol="0" anchor="t"/>
          <a:lstStyle/>
          <a:p>
            <a:pPr marL="0" indent="0" algn="l">
              <a:lnSpc>
                <a:spcPts val="5950"/>
              </a:lnSpc>
              <a:buNone/>
            </a:pPr>
            <a:r>
              <a:rPr lang="en-US" sz="4750" b="1" dirty="0">
                <a:solidFill>
                  <a:srgbClr val="F95F88"/>
                </a:solidFill>
                <a:latin typeface="Calisto MT" panose="02040603050505030304" pitchFamily="18" charset="0"/>
                <a:ea typeface="Petrona Bold" pitchFamily="34" charset="-122"/>
                <a:cs typeface="Petrona Bold" pitchFamily="34" charset="-120"/>
              </a:rPr>
              <a:t>Why Real Estate Analytics Matters</a:t>
            </a:r>
            <a:endParaRPr lang="en-US" sz="4750" dirty="0">
              <a:latin typeface="Calisto MT" panose="02040603050505030304" pitchFamily="18" charset="0"/>
            </a:endParaRPr>
          </a:p>
        </p:txBody>
      </p:sp>
      <p:sp>
        <p:nvSpPr>
          <p:cNvPr id="4" name="Text 1"/>
          <p:cNvSpPr/>
          <p:nvPr/>
        </p:nvSpPr>
        <p:spPr>
          <a:xfrm>
            <a:off x="775216" y="4870133"/>
            <a:ext cx="3045500" cy="380643"/>
          </a:xfrm>
          <a:prstGeom prst="rect">
            <a:avLst/>
          </a:prstGeom>
          <a:noFill/>
          <a:ln/>
        </p:spPr>
        <p:txBody>
          <a:bodyPr wrap="none" lIns="0" tIns="0" rIns="0" bIns="0" rtlCol="0" anchor="t"/>
          <a:lstStyle/>
          <a:p>
            <a:pPr marL="0" indent="0" algn="l">
              <a:lnSpc>
                <a:spcPts val="2950"/>
              </a:lnSpc>
              <a:buNone/>
            </a:pPr>
            <a:r>
              <a:rPr lang="en-US" sz="2350" b="1" dirty="0">
                <a:solidFill>
                  <a:srgbClr val="F95F88"/>
                </a:solidFill>
                <a:latin typeface="Calisto MT" panose="02040603050505030304" pitchFamily="18" charset="0"/>
                <a:ea typeface="Petrona Bold" pitchFamily="34" charset="-122"/>
                <a:cs typeface="Petrona Bold" pitchFamily="34" charset="-120"/>
              </a:rPr>
              <a:t>The Challenge</a:t>
            </a:r>
            <a:endParaRPr lang="en-US" sz="2350" dirty="0">
              <a:latin typeface="Calisto MT" panose="02040603050505030304" pitchFamily="18" charset="0"/>
            </a:endParaRPr>
          </a:p>
        </p:txBody>
      </p:sp>
      <p:sp>
        <p:nvSpPr>
          <p:cNvPr id="5" name="Text 2"/>
          <p:cNvSpPr/>
          <p:nvPr/>
        </p:nvSpPr>
        <p:spPr>
          <a:xfrm>
            <a:off x="775216" y="5472232"/>
            <a:ext cx="6269831" cy="1771650"/>
          </a:xfrm>
          <a:prstGeom prst="rect">
            <a:avLst/>
          </a:prstGeom>
          <a:noFill/>
          <a:ln/>
        </p:spPr>
        <p:txBody>
          <a:bodyPr wrap="square" lIns="0" tIns="0" rIns="0" bIns="0" rtlCol="0" anchor="t"/>
          <a:lstStyle/>
          <a:p>
            <a:pPr marL="0" indent="0" algn="l">
              <a:lnSpc>
                <a:spcPts val="2750"/>
              </a:lnSpc>
              <a:buNone/>
            </a:pPr>
            <a:r>
              <a:rPr lang="en-US" sz="1700" dirty="0">
                <a:solidFill>
                  <a:srgbClr val="272525"/>
                </a:solidFill>
                <a:latin typeface="Inter" pitchFamily="34" charset="0"/>
                <a:ea typeface="Inter" pitchFamily="34" charset="-122"/>
                <a:cs typeface="Inter" pitchFamily="34" charset="-120"/>
              </a:rPr>
              <a:t>The real estate market faces significant challenges: property buyers struggle with price uncertainty, lack access to transparent insights, and rely on intuition rather than data-driven decisions. Without analytical tools, buyers make costly mistakes and sellers miss opportunities.</a:t>
            </a:r>
            <a:endParaRPr lang="en-US" sz="1700" dirty="0"/>
          </a:p>
        </p:txBody>
      </p:sp>
      <p:sp>
        <p:nvSpPr>
          <p:cNvPr id="6" name="Text 3"/>
          <p:cNvSpPr/>
          <p:nvPr/>
        </p:nvSpPr>
        <p:spPr>
          <a:xfrm>
            <a:off x="7592973" y="4870133"/>
            <a:ext cx="3045500" cy="380643"/>
          </a:xfrm>
          <a:prstGeom prst="rect">
            <a:avLst/>
          </a:prstGeom>
          <a:noFill/>
          <a:ln/>
        </p:spPr>
        <p:txBody>
          <a:bodyPr wrap="none" lIns="0" tIns="0" rIns="0" bIns="0" rtlCol="0" anchor="t"/>
          <a:lstStyle/>
          <a:p>
            <a:pPr marL="0" indent="0" algn="l">
              <a:lnSpc>
                <a:spcPts val="2950"/>
              </a:lnSpc>
              <a:buNone/>
            </a:pPr>
            <a:r>
              <a:rPr lang="en-US" sz="2350" b="1" dirty="0">
                <a:solidFill>
                  <a:srgbClr val="F95F88"/>
                </a:solidFill>
                <a:latin typeface="Calisto MT" panose="02040603050505030304" pitchFamily="18" charset="0"/>
                <a:ea typeface="Petrona Bold" pitchFamily="34" charset="-122"/>
                <a:cs typeface="Petrona Bold" pitchFamily="34" charset="-120"/>
              </a:rPr>
              <a:t>Our Solution</a:t>
            </a:r>
            <a:endParaRPr lang="en-US" sz="2350" dirty="0">
              <a:latin typeface="Calisto MT" panose="02040603050505030304" pitchFamily="18" charset="0"/>
            </a:endParaRPr>
          </a:p>
        </p:txBody>
      </p:sp>
      <p:sp>
        <p:nvSpPr>
          <p:cNvPr id="7" name="Text 4"/>
          <p:cNvSpPr/>
          <p:nvPr/>
        </p:nvSpPr>
        <p:spPr>
          <a:xfrm>
            <a:off x="7592973" y="5472232"/>
            <a:ext cx="6269831" cy="1771650"/>
          </a:xfrm>
          <a:prstGeom prst="rect">
            <a:avLst/>
          </a:prstGeom>
          <a:noFill/>
          <a:ln/>
        </p:spPr>
        <p:txBody>
          <a:bodyPr wrap="square" lIns="0" tIns="0" rIns="0" bIns="0" rtlCol="0" anchor="t"/>
          <a:lstStyle/>
          <a:p>
            <a:pPr marL="0" indent="0" algn="l">
              <a:lnSpc>
                <a:spcPts val="2750"/>
              </a:lnSpc>
              <a:buNone/>
            </a:pPr>
            <a:r>
              <a:rPr lang="en-US" sz="1700" dirty="0">
                <a:solidFill>
                  <a:srgbClr val="272525"/>
                </a:solidFill>
                <a:latin typeface="Inter" pitchFamily="34" charset="0"/>
                <a:ea typeface="Inter" pitchFamily="34" charset="-122"/>
                <a:cs typeface="Inter" pitchFamily="34" charset="-120"/>
              </a:rPr>
              <a:t>This project integrates data scraping, machine learning, interactive visualization, and intelligent recommendations into one unified platform. We predict prices accurately, reveal market patterns, and suggest ideal properties tailored to each buyer's unique preferences.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51999" y="761286"/>
            <a:ext cx="5909429" cy="738545"/>
          </a:xfrm>
          <a:prstGeom prst="rect">
            <a:avLst/>
          </a:prstGeom>
          <a:noFill/>
          <a:ln/>
        </p:spPr>
        <p:txBody>
          <a:bodyPr wrap="none" lIns="0" tIns="0" rIns="0" bIns="0" rtlCol="0" anchor="t"/>
          <a:lstStyle/>
          <a:p>
            <a:pPr marL="0" indent="0" algn="l">
              <a:lnSpc>
                <a:spcPts val="5800"/>
              </a:lnSpc>
              <a:buNone/>
            </a:pPr>
            <a:r>
              <a:rPr lang="en-US" sz="4650" b="1" dirty="0">
                <a:solidFill>
                  <a:srgbClr val="F95F88"/>
                </a:solidFill>
                <a:latin typeface="Calisto MT" panose="02040603050505030304" pitchFamily="18" charset="0"/>
                <a:ea typeface="Petrona Bold" pitchFamily="34" charset="-122"/>
                <a:cs typeface="Petrona Bold" pitchFamily="34" charset="-120"/>
              </a:rPr>
              <a:t>Project Objectives</a:t>
            </a:r>
            <a:endParaRPr lang="en-US" sz="4650" dirty="0">
              <a:latin typeface="Calisto MT" panose="02040603050505030304" pitchFamily="18" charset="0"/>
            </a:endParaRPr>
          </a:p>
        </p:txBody>
      </p:sp>
      <p:sp>
        <p:nvSpPr>
          <p:cNvPr id="3" name="Shape 1"/>
          <p:cNvSpPr/>
          <p:nvPr/>
        </p:nvSpPr>
        <p:spPr>
          <a:xfrm>
            <a:off x="751999" y="1929527"/>
            <a:ext cx="6455807" cy="2833926"/>
          </a:xfrm>
          <a:prstGeom prst="roundRect">
            <a:avLst>
              <a:gd name="adj" fmla="val 3185"/>
            </a:avLst>
          </a:prstGeom>
          <a:solidFill>
            <a:srgbClr val="E0D7F4"/>
          </a:solidFill>
          <a:ln w="7620">
            <a:solidFill>
              <a:srgbClr val="C6BDDA"/>
            </a:solidFill>
            <a:prstDash val="solid"/>
          </a:ln>
        </p:spPr>
      </p:sp>
      <p:sp>
        <p:nvSpPr>
          <p:cNvPr id="4" name="Shape 2"/>
          <p:cNvSpPr/>
          <p:nvPr/>
        </p:nvSpPr>
        <p:spPr>
          <a:xfrm>
            <a:off x="974408" y="2151936"/>
            <a:ext cx="644604" cy="644604"/>
          </a:xfrm>
          <a:prstGeom prst="roundRect">
            <a:avLst>
              <a:gd name="adj" fmla="val 14184035"/>
            </a:avLst>
          </a:prstGeom>
          <a:solidFill>
            <a:srgbClr val="6237C8"/>
          </a:solidFill>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51692" y="2329101"/>
            <a:ext cx="290036" cy="290036"/>
          </a:xfrm>
          <a:prstGeom prst="rect">
            <a:avLst/>
          </a:prstGeom>
        </p:spPr>
      </p:pic>
      <p:sp>
        <p:nvSpPr>
          <p:cNvPr id="6" name="Text 3"/>
          <p:cNvSpPr/>
          <p:nvPr/>
        </p:nvSpPr>
        <p:spPr>
          <a:xfrm>
            <a:off x="974408" y="3011329"/>
            <a:ext cx="6118517" cy="369332"/>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Calisto MT" panose="02040603050505030304" pitchFamily="18" charset="0"/>
                <a:ea typeface="Petrona Bold" pitchFamily="34" charset="-122"/>
                <a:cs typeface="Petrona Bold" pitchFamily="34" charset="-120"/>
              </a:rPr>
              <a:t>Predict Prices</a:t>
            </a:r>
            <a:endParaRPr lang="en-US" sz="2300" dirty="0">
              <a:latin typeface="Calisto MT" panose="02040603050505030304" pitchFamily="18" charset="0"/>
            </a:endParaRPr>
          </a:p>
        </p:txBody>
      </p:sp>
      <p:sp>
        <p:nvSpPr>
          <p:cNvPr id="7" name="Text 4"/>
          <p:cNvSpPr/>
          <p:nvPr/>
        </p:nvSpPr>
        <p:spPr>
          <a:xfrm>
            <a:off x="974408" y="3509486"/>
            <a:ext cx="6010989" cy="1031558"/>
          </a:xfrm>
          <a:prstGeom prst="rect">
            <a:avLst/>
          </a:prstGeom>
          <a:noFill/>
          <a:ln/>
        </p:spPr>
        <p:txBody>
          <a:bodyPr wrap="square" lIns="0" tIns="0" rIns="0" bIns="0" rtlCol="0" anchor="t"/>
          <a:lstStyle/>
          <a:p>
            <a:pPr marL="0" indent="0" algn="l">
              <a:lnSpc>
                <a:spcPts val="2700"/>
              </a:lnSpc>
              <a:buNone/>
            </a:pPr>
            <a:r>
              <a:rPr lang="en-US" sz="1650" dirty="0">
                <a:solidFill>
                  <a:srgbClr val="272525"/>
                </a:solidFill>
                <a:latin typeface="Inter" pitchFamily="34" charset="0"/>
                <a:ea typeface="Inter" pitchFamily="34" charset="-122"/>
                <a:cs typeface="Inter" pitchFamily="34" charset="-120"/>
              </a:rPr>
              <a:t>Build accurate machine learning models to forecast property prices based on key features and market conditions.</a:t>
            </a:r>
            <a:endParaRPr lang="en-US" sz="1650" dirty="0"/>
          </a:p>
        </p:txBody>
      </p:sp>
      <p:sp>
        <p:nvSpPr>
          <p:cNvPr id="8" name="Shape 5"/>
          <p:cNvSpPr/>
          <p:nvPr/>
        </p:nvSpPr>
        <p:spPr>
          <a:xfrm>
            <a:off x="7422594" y="1929527"/>
            <a:ext cx="6455807" cy="2833926"/>
          </a:xfrm>
          <a:prstGeom prst="roundRect">
            <a:avLst>
              <a:gd name="adj" fmla="val 3185"/>
            </a:avLst>
          </a:prstGeom>
          <a:solidFill>
            <a:srgbClr val="E0D7F4"/>
          </a:solidFill>
          <a:ln w="7620">
            <a:solidFill>
              <a:srgbClr val="C6BDDA"/>
            </a:solidFill>
            <a:prstDash val="solid"/>
          </a:ln>
        </p:spPr>
      </p:sp>
      <p:sp>
        <p:nvSpPr>
          <p:cNvPr id="9" name="Shape 6"/>
          <p:cNvSpPr/>
          <p:nvPr/>
        </p:nvSpPr>
        <p:spPr>
          <a:xfrm>
            <a:off x="7645003" y="2151936"/>
            <a:ext cx="644604" cy="644604"/>
          </a:xfrm>
          <a:prstGeom prst="roundRect">
            <a:avLst>
              <a:gd name="adj" fmla="val 14184035"/>
            </a:avLst>
          </a:prstGeom>
          <a:solidFill>
            <a:srgbClr val="6237C8"/>
          </a:solidFill>
          <a:ln/>
        </p:spPr>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22287" y="2329101"/>
            <a:ext cx="290036" cy="290036"/>
          </a:xfrm>
          <a:prstGeom prst="rect">
            <a:avLst/>
          </a:prstGeom>
        </p:spPr>
      </p:pic>
      <p:sp>
        <p:nvSpPr>
          <p:cNvPr id="11" name="Text 7"/>
          <p:cNvSpPr/>
          <p:nvPr/>
        </p:nvSpPr>
        <p:spPr>
          <a:xfrm>
            <a:off x="7645003" y="3011329"/>
            <a:ext cx="5903729" cy="369332"/>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Calisto MT" panose="02040603050505030304" pitchFamily="18" charset="0"/>
                <a:ea typeface="Petrona Bold" pitchFamily="34" charset="-122"/>
                <a:cs typeface="Petrona Bold" pitchFamily="34" charset="-120"/>
              </a:rPr>
              <a:t>Visualize Trends</a:t>
            </a:r>
            <a:endParaRPr lang="en-US" sz="2300" dirty="0">
              <a:latin typeface="Calisto MT" panose="02040603050505030304" pitchFamily="18" charset="0"/>
            </a:endParaRPr>
          </a:p>
        </p:txBody>
      </p:sp>
      <p:sp>
        <p:nvSpPr>
          <p:cNvPr id="12" name="Text 8"/>
          <p:cNvSpPr/>
          <p:nvPr/>
        </p:nvSpPr>
        <p:spPr>
          <a:xfrm>
            <a:off x="7645003" y="3509486"/>
            <a:ext cx="6010989" cy="1031558"/>
          </a:xfrm>
          <a:prstGeom prst="rect">
            <a:avLst/>
          </a:prstGeom>
          <a:noFill/>
          <a:ln/>
        </p:spPr>
        <p:txBody>
          <a:bodyPr wrap="square" lIns="0" tIns="0" rIns="0" bIns="0" rtlCol="0" anchor="t"/>
          <a:lstStyle/>
          <a:p>
            <a:pPr marL="0" indent="0" algn="l">
              <a:lnSpc>
                <a:spcPts val="2700"/>
              </a:lnSpc>
              <a:buNone/>
            </a:pPr>
            <a:r>
              <a:rPr lang="en-US" sz="1650" dirty="0">
                <a:solidFill>
                  <a:srgbClr val="272525"/>
                </a:solidFill>
                <a:latin typeface="Inter" pitchFamily="34" charset="0"/>
                <a:ea typeface="Inter" pitchFamily="34" charset="-122"/>
                <a:cs typeface="Inter" pitchFamily="34" charset="-120"/>
              </a:rPr>
              <a:t>Create interactive dashboards revealing market insights, price distributions, and geographic patterns across regions.</a:t>
            </a:r>
            <a:endParaRPr lang="en-US" sz="1650" dirty="0"/>
          </a:p>
        </p:txBody>
      </p:sp>
      <p:sp>
        <p:nvSpPr>
          <p:cNvPr id="13" name="Shape 9"/>
          <p:cNvSpPr/>
          <p:nvPr/>
        </p:nvSpPr>
        <p:spPr>
          <a:xfrm>
            <a:off x="751999" y="4978241"/>
            <a:ext cx="6455807" cy="2490073"/>
          </a:xfrm>
          <a:prstGeom prst="roundRect">
            <a:avLst>
              <a:gd name="adj" fmla="val 3625"/>
            </a:avLst>
          </a:prstGeom>
          <a:solidFill>
            <a:srgbClr val="E0D7F4"/>
          </a:solidFill>
          <a:ln w="7620">
            <a:solidFill>
              <a:srgbClr val="C6BDDA"/>
            </a:solidFill>
            <a:prstDash val="solid"/>
          </a:ln>
        </p:spPr>
      </p:sp>
      <p:sp>
        <p:nvSpPr>
          <p:cNvPr id="14" name="Shape 10"/>
          <p:cNvSpPr/>
          <p:nvPr/>
        </p:nvSpPr>
        <p:spPr>
          <a:xfrm>
            <a:off x="974408" y="5200650"/>
            <a:ext cx="644604" cy="644604"/>
          </a:xfrm>
          <a:prstGeom prst="roundRect">
            <a:avLst>
              <a:gd name="adj" fmla="val 14184035"/>
            </a:avLst>
          </a:prstGeom>
          <a:solidFill>
            <a:srgbClr val="6237C8"/>
          </a:solidFill>
          <a:ln/>
        </p:spPr>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51692" y="5377815"/>
            <a:ext cx="290036" cy="290036"/>
          </a:xfrm>
          <a:prstGeom prst="rect">
            <a:avLst/>
          </a:prstGeom>
        </p:spPr>
      </p:pic>
      <p:sp>
        <p:nvSpPr>
          <p:cNvPr id="16" name="Text 11"/>
          <p:cNvSpPr/>
          <p:nvPr/>
        </p:nvSpPr>
        <p:spPr>
          <a:xfrm>
            <a:off x="974408" y="6060043"/>
            <a:ext cx="5687020" cy="369332"/>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Calisto MT" panose="02040603050505030304" pitchFamily="18" charset="0"/>
                <a:ea typeface="Petrona Bold" pitchFamily="34" charset="-122"/>
                <a:cs typeface="Petrona Bold" pitchFamily="34" charset="-120"/>
              </a:rPr>
              <a:t>Recommend Properties</a:t>
            </a:r>
            <a:endParaRPr lang="en-US" sz="2300" dirty="0">
              <a:latin typeface="Calisto MT" panose="02040603050505030304" pitchFamily="18" charset="0"/>
            </a:endParaRPr>
          </a:p>
        </p:txBody>
      </p:sp>
      <p:sp>
        <p:nvSpPr>
          <p:cNvPr id="17" name="Text 12"/>
          <p:cNvSpPr/>
          <p:nvPr/>
        </p:nvSpPr>
        <p:spPr>
          <a:xfrm>
            <a:off x="974408" y="6558201"/>
            <a:ext cx="6010989" cy="687705"/>
          </a:xfrm>
          <a:prstGeom prst="rect">
            <a:avLst/>
          </a:prstGeom>
          <a:noFill/>
          <a:ln/>
        </p:spPr>
        <p:txBody>
          <a:bodyPr wrap="square" lIns="0" tIns="0" rIns="0" bIns="0" rtlCol="0" anchor="t"/>
          <a:lstStyle/>
          <a:p>
            <a:pPr marL="0" indent="0" algn="l">
              <a:lnSpc>
                <a:spcPts val="2700"/>
              </a:lnSpc>
              <a:buNone/>
            </a:pPr>
            <a:r>
              <a:rPr lang="en-US" sz="1650" dirty="0">
                <a:solidFill>
                  <a:srgbClr val="272525"/>
                </a:solidFill>
                <a:latin typeface="Inter" pitchFamily="34" charset="0"/>
                <a:ea typeface="Inter" pitchFamily="34" charset="-122"/>
                <a:cs typeface="Inter" pitchFamily="34" charset="-120"/>
              </a:rPr>
              <a:t>Deliver personalized property suggestions matching buyer preferences using advanced similarity scoring algorithms.</a:t>
            </a:r>
            <a:endParaRPr lang="en-US" sz="1650" dirty="0"/>
          </a:p>
        </p:txBody>
      </p:sp>
      <p:sp>
        <p:nvSpPr>
          <p:cNvPr id="18" name="Shape 13"/>
          <p:cNvSpPr/>
          <p:nvPr/>
        </p:nvSpPr>
        <p:spPr>
          <a:xfrm>
            <a:off x="7422594" y="4978241"/>
            <a:ext cx="6455807" cy="2490073"/>
          </a:xfrm>
          <a:prstGeom prst="roundRect">
            <a:avLst>
              <a:gd name="adj" fmla="val 3625"/>
            </a:avLst>
          </a:prstGeom>
          <a:solidFill>
            <a:srgbClr val="E0D7F4"/>
          </a:solidFill>
          <a:ln w="7620">
            <a:solidFill>
              <a:srgbClr val="C6BDDA"/>
            </a:solidFill>
            <a:prstDash val="solid"/>
          </a:ln>
        </p:spPr>
      </p:sp>
      <p:sp>
        <p:nvSpPr>
          <p:cNvPr id="19" name="Shape 14"/>
          <p:cNvSpPr/>
          <p:nvPr/>
        </p:nvSpPr>
        <p:spPr>
          <a:xfrm>
            <a:off x="7645003" y="5200650"/>
            <a:ext cx="644604" cy="644604"/>
          </a:xfrm>
          <a:prstGeom prst="roundRect">
            <a:avLst>
              <a:gd name="adj" fmla="val 14184035"/>
            </a:avLst>
          </a:prstGeom>
          <a:solidFill>
            <a:srgbClr val="6237C8"/>
          </a:solidFill>
          <a:ln/>
        </p:spPr>
      </p:sp>
      <p:pic>
        <p:nvPicPr>
          <p:cNvPr id="20"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822287" y="5377815"/>
            <a:ext cx="290036" cy="290036"/>
          </a:xfrm>
          <a:prstGeom prst="rect">
            <a:avLst/>
          </a:prstGeom>
        </p:spPr>
      </p:pic>
      <p:sp>
        <p:nvSpPr>
          <p:cNvPr id="21" name="Text 15"/>
          <p:cNvSpPr/>
          <p:nvPr/>
        </p:nvSpPr>
        <p:spPr>
          <a:xfrm>
            <a:off x="7645002" y="6060043"/>
            <a:ext cx="6010989" cy="369332"/>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Calisto MT" panose="02040603050505030304" pitchFamily="18" charset="0"/>
                <a:ea typeface="Petrona Bold" pitchFamily="34" charset="-122"/>
                <a:cs typeface="Petrona Bold" pitchFamily="34" charset="-120"/>
              </a:rPr>
              <a:t>User-Friendly Dashboard</a:t>
            </a:r>
            <a:endParaRPr lang="en-US" sz="2300" dirty="0">
              <a:latin typeface="Calisto MT" panose="02040603050505030304" pitchFamily="18" charset="0"/>
            </a:endParaRPr>
          </a:p>
        </p:txBody>
      </p:sp>
      <p:sp>
        <p:nvSpPr>
          <p:cNvPr id="22" name="Text 16"/>
          <p:cNvSpPr/>
          <p:nvPr/>
        </p:nvSpPr>
        <p:spPr>
          <a:xfrm>
            <a:off x="7645003" y="6558201"/>
            <a:ext cx="6010989" cy="687705"/>
          </a:xfrm>
          <a:prstGeom prst="rect">
            <a:avLst/>
          </a:prstGeom>
          <a:noFill/>
          <a:ln/>
        </p:spPr>
        <p:txBody>
          <a:bodyPr wrap="square" lIns="0" tIns="0" rIns="0" bIns="0" rtlCol="0" anchor="t"/>
          <a:lstStyle/>
          <a:p>
            <a:pPr marL="0" indent="0" algn="l">
              <a:lnSpc>
                <a:spcPts val="2700"/>
              </a:lnSpc>
              <a:buNone/>
            </a:pPr>
            <a:r>
              <a:rPr lang="en-US" sz="1650" dirty="0">
                <a:solidFill>
                  <a:srgbClr val="272525"/>
                </a:solidFill>
                <a:latin typeface="Inter" pitchFamily="34" charset="0"/>
                <a:ea typeface="Inter" pitchFamily="34" charset="-122"/>
                <a:cs typeface="Inter" pitchFamily="34" charset="-120"/>
              </a:rPr>
              <a:t>Develop an intuitive Streamlit interface enabling buyers and agents to access predictions and insights instantly.</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30791"/>
          </a:xfrm>
          <a:prstGeom prst="rect">
            <a:avLst/>
          </a:prstGeom>
        </p:spPr>
      </p:pic>
      <p:sp>
        <p:nvSpPr>
          <p:cNvPr id="3" name="Text 0"/>
          <p:cNvSpPr/>
          <p:nvPr/>
        </p:nvSpPr>
        <p:spPr>
          <a:xfrm>
            <a:off x="6133743" y="508635"/>
            <a:ext cx="7448442" cy="635913"/>
          </a:xfrm>
          <a:prstGeom prst="rect">
            <a:avLst/>
          </a:prstGeom>
          <a:noFill/>
          <a:ln/>
        </p:spPr>
        <p:txBody>
          <a:bodyPr wrap="none" lIns="0" tIns="0" rIns="0" bIns="0" rtlCol="0" anchor="t"/>
          <a:lstStyle/>
          <a:p>
            <a:pPr marL="0" indent="0" algn="l">
              <a:lnSpc>
                <a:spcPts val="5000"/>
              </a:lnSpc>
              <a:buNone/>
            </a:pPr>
            <a:r>
              <a:rPr lang="en-US" sz="4000" b="1" dirty="0">
                <a:solidFill>
                  <a:srgbClr val="F95F88"/>
                </a:solidFill>
                <a:latin typeface="Calisto MT" panose="02040603050505030304" pitchFamily="18" charset="0"/>
                <a:ea typeface="Petrona Bold" pitchFamily="34" charset="-122"/>
                <a:cs typeface="Petrona Bold" pitchFamily="34" charset="-120"/>
              </a:rPr>
              <a:t>The Problem We're Solving</a:t>
            </a:r>
            <a:endParaRPr lang="en-US" sz="4000" dirty="0">
              <a:latin typeface="Calisto MT" panose="02040603050505030304" pitchFamily="18" charset="0"/>
            </a:endParaRPr>
          </a:p>
        </p:txBody>
      </p:sp>
      <p:sp>
        <p:nvSpPr>
          <p:cNvPr id="4" name="Shape 1"/>
          <p:cNvSpPr/>
          <p:nvPr/>
        </p:nvSpPr>
        <p:spPr>
          <a:xfrm>
            <a:off x="6133743" y="1421963"/>
            <a:ext cx="7849314" cy="1436370"/>
          </a:xfrm>
          <a:prstGeom prst="roundRect">
            <a:avLst>
              <a:gd name="adj" fmla="val 7639"/>
            </a:avLst>
          </a:prstGeom>
          <a:solidFill>
            <a:srgbClr val="FDFAF7"/>
          </a:solidFill>
          <a:ln w="22860">
            <a:solidFill>
              <a:srgbClr val="C6BDDA"/>
            </a:solidFill>
            <a:prstDash val="solid"/>
          </a:ln>
        </p:spPr>
      </p:sp>
      <p:sp>
        <p:nvSpPr>
          <p:cNvPr id="5" name="Shape 2"/>
          <p:cNvSpPr/>
          <p:nvPr/>
        </p:nvSpPr>
        <p:spPr>
          <a:xfrm>
            <a:off x="6110883" y="1421963"/>
            <a:ext cx="91440" cy="1436370"/>
          </a:xfrm>
          <a:prstGeom prst="roundRect">
            <a:avLst>
              <a:gd name="adj" fmla="val 84966"/>
            </a:avLst>
          </a:prstGeom>
          <a:solidFill>
            <a:srgbClr val="6237C8"/>
          </a:solidFill>
          <a:ln/>
        </p:spPr>
      </p:sp>
      <p:sp>
        <p:nvSpPr>
          <p:cNvPr id="6" name="Text 3"/>
          <p:cNvSpPr/>
          <p:nvPr/>
        </p:nvSpPr>
        <p:spPr>
          <a:xfrm>
            <a:off x="6410087" y="1629728"/>
            <a:ext cx="2543413" cy="317897"/>
          </a:xfrm>
          <a:prstGeom prst="rect">
            <a:avLst/>
          </a:prstGeom>
          <a:noFill/>
          <a:ln/>
        </p:spPr>
        <p:txBody>
          <a:bodyPr wrap="none" lIns="0" tIns="0" rIns="0" bIns="0" rtlCol="0" anchor="t"/>
          <a:lstStyle/>
          <a:p>
            <a:pPr marL="0" indent="0" algn="l">
              <a:lnSpc>
                <a:spcPts val="2500"/>
              </a:lnSpc>
              <a:buNone/>
            </a:pPr>
            <a:r>
              <a:rPr lang="en-US" sz="2000" b="1" dirty="0">
                <a:solidFill>
                  <a:srgbClr val="272525"/>
                </a:solidFill>
                <a:latin typeface="Calisto MT" panose="02040603050505030304" pitchFamily="18" charset="0"/>
                <a:ea typeface="Petrona Bold" pitchFamily="34" charset="-122"/>
                <a:cs typeface="Petrona Bold" pitchFamily="34" charset="-120"/>
              </a:rPr>
              <a:t>Price Uncertainty</a:t>
            </a:r>
            <a:endParaRPr lang="en-US" sz="2000" dirty="0">
              <a:latin typeface="Calisto MT" panose="02040603050505030304" pitchFamily="18" charset="0"/>
            </a:endParaRPr>
          </a:p>
        </p:txBody>
      </p:sp>
      <p:sp>
        <p:nvSpPr>
          <p:cNvPr id="7" name="Text 4"/>
          <p:cNvSpPr/>
          <p:nvPr/>
        </p:nvSpPr>
        <p:spPr>
          <a:xfrm>
            <a:off x="6410087" y="2058591"/>
            <a:ext cx="7365206" cy="591979"/>
          </a:xfrm>
          <a:prstGeom prst="rect">
            <a:avLst/>
          </a:prstGeom>
          <a:noFill/>
          <a:ln/>
        </p:spPr>
        <p:txBody>
          <a:bodyPr wrap="square" lIns="0" tIns="0" rIns="0" bIns="0" rtlCol="0" anchor="t"/>
          <a:lstStyle/>
          <a:p>
            <a:pPr marL="0" indent="0" algn="l">
              <a:lnSpc>
                <a:spcPts val="2300"/>
              </a:lnSpc>
              <a:buNone/>
            </a:pPr>
            <a:r>
              <a:rPr lang="en-US" sz="1450" dirty="0">
                <a:solidFill>
                  <a:srgbClr val="272525"/>
                </a:solidFill>
                <a:latin typeface="Inter" pitchFamily="34" charset="0"/>
                <a:ea typeface="Inter" pitchFamily="34" charset="-122"/>
                <a:cs typeface="Inter" pitchFamily="34" charset="-120"/>
              </a:rPr>
              <a:t>Property values fluctuate based on complex market factors that buyers cannot easily assess or predict independently.</a:t>
            </a:r>
            <a:endParaRPr lang="en-US" sz="1450" dirty="0"/>
          </a:p>
        </p:txBody>
      </p:sp>
      <p:sp>
        <p:nvSpPr>
          <p:cNvPr id="8" name="Shape 5"/>
          <p:cNvSpPr/>
          <p:nvPr/>
        </p:nvSpPr>
        <p:spPr>
          <a:xfrm>
            <a:off x="6133743" y="3043237"/>
            <a:ext cx="7849314" cy="1436370"/>
          </a:xfrm>
          <a:prstGeom prst="roundRect">
            <a:avLst>
              <a:gd name="adj" fmla="val 7639"/>
            </a:avLst>
          </a:prstGeom>
          <a:solidFill>
            <a:srgbClr val="FDFAF7"/>
          </a:solidFill>
          <a:ln w="22860">
            <a:solidFill>
              <a:srgbClr val="C6BDDA"/>
            </a:solidFill>
            <a:prstDash val="solid"/>
          </a:ln>
        </p:spPr>
      </p:sp>
      <p:sp>
        <p:nvSpPr>
          <p:cNvPr id="9" name="Shape 6"/>
          <p:cNvSpPr/>
          <p:nvPr/>
        </p:nvSpPr>
        <p:spPr>
          <a:xfrm>
            <a:off x="6110883" y="3043237"/>
            <a:ext cx="91440" cy="1436370"/>
          </a:xfrm>
          <a:prstGeom prst="roundRect">
            <a:avLst>
              <a:gd name="adj" fmla="val 84966"/>
            </a:avLst>
          </a:prstGeom>
          <a:solidFill>
            <a:srgbClr val="6237C8"/>
          </a:solidFill>
          <a:ln/>
        </p:spPr>
      </p:sp>
      <p:sp>
        <p:nvSpPr>
          <p:cNvPr id="10" name="Text 7"/>
          <p:cNvSpPr/>
          <p:nvPr/>
        </p:nvSpPr>
        <p:spPr>
          <a:xfrm>
            <a:off x="6410087" y="3251002"/>
            <a:ext cx="6079279" cy="317897"/>
          </a:xfrm>
          <a:prstGeom prst="rect">
            <a:avLst/>
          </a:prstGeom>
          <a:noFill/>
          <a:ln/>
        </p:spPr>
        <p:txBody>
          <a:bodyPr wrap="none" lIns="0" tIns="0" rIns="0" bIns="0" rtlCol="0" anchor="t"/>
          <a:lstStyle/>
          <a:p>
            <a:pPr marL="0" indent="0" algn="l">
              <a:lnSpc>
                <a:spcPts val="2500"/>
              </a:lnSpc>
              <a:buNone/>
            </a:pPr>
            <a:r>
              <a:rPr lang="en-US" sz="2000" b="1" dirty="0">
                <a:solidFill>
                  <a:srgbClr val="272525"/>
                </a:solidFill>
                <a:latin typeface="Calisto MT" panose="02040603050505030304" pitchFamily="18" charset="0"/>
                <a:ea typeface="Petrona Bold" pitchFamily="34" charset="-122"/>
                <a:cs typeface="Petrona Bold" pitchFamily="34" charset="-120"/>
              </a:rPr>
              <a:t>Lack of Transparency</a:t>
            </a:r>
            <a:endParaRPr lang="en-US" sz="2000" dirty="0">
              <a:latin typeface="Calisto MT" panose="02040603050505030304" pitchFamily="18" charset="0"/>
            </a:endParaRPr>
          </a:p>
        </p:txBody>
      </p:sp>
      <p:sp>
        <p:nvSpPr>
          <p:cNvPr id="11" name="Text 8"/>
          <p:cNvSpPr/>
          <p:nvPr/>
        </p:nvSpPr>
        <p:spPr>
          <a:xfrm>
            <a:off x="6410087" y="3679865"/>
            <a:ext cx="7365206" cy="591979"/>
          </a:xfrm>
          <a:prstGeom prst="rect">
            <a:avLst/>
          </a:prstGeom>
          <a:noFill/>
          <a:ln/>
        </p:spPr>
        <p:txBody>
          <a:bodyPr wrap="square" lIns="0" tIns="0" rIns="0" bIns="0" rtlCol="0" anchor="t"/>
          <a:lstStyle/>
          <a:p>
            <a:pPr marL="0" indent="0" algn="l">
              <a:lnSpc>
                <a:spcPts val="2300"/>
              </a:lnSpc>
              <a:buNone/>
            </a:pPr>
            <a:r>
              <a:rPr lang="en-US" sz="1450" dirty="0">
                <a:solidFill>
                  <a:srgbClr val="272525"/>
                </a:solidFill>
                <a:latin typeface="Inter" pitchFamily="34" charset="0"/>
                <a:ea typeface="Inter" pitchFamily="34" charset="-122"/>
                <a:cs typeface="Inter" pitchFamily="34" charset="-120"/>
              </a:rPr>
              <a:t>Buyers lack access to clear, data-backed insights about fair pricing, neighborhood trends, and property value drivers.</a:t>
            </a:r>
            <a:endParaRPr lang="en-US" sz="1450" dirty="0"/>
          </a:p>
        </p:txBody>
      </p:sp>
      <p:sp>
        <p:nvSpPr>
          <p:cNvPr id="12" name="Shape 9"/>
          <p:cNvSpPr/>
          <p:nvPr/>
        </p:nvSpPr>
        <p:spPr>
          <a:xfrm>
            <a:off x="6133743" y="4664512"/>
            <a:ext cx="7849314" cy="1436370"/>
          </a:xfrm>
          <a:prstGeom prst="roundRect">
            <a:avLst>
              <a:gd name="adj" fmla="val 7639"/>
            </a:avLst>
          </a:prstGeom>
          <a:solidFill>
            <a:srgbClr val="FDFAF7"/>
          </a:solidFill>
          <a:ln w="22860">
            <a:solidFill>
              <a:srgbClr val="C6BDDA"/>
            </a:solidFill>
            <a:prstDash val="solid"/>
          </a:ln>
        </p:spPr>
      </p:sp>
      <p:sp>
        <p:nvSpPr>
          <p:cNvPr id="13" name="Shape 10"/>
          <p:cNvSpPr/>
          <p:nvPr/>
        </p:nvSpPr>
        <p:spPr>
          <a:xfrm>
            <a:off x="6110883" y="4664512"/>
            <a:ext cx="91440" cy="1436370"/>
          </a:xfrm>
          <a:prstGeom prst="roundRect">
            <a:avLst>
              <a:gd name="adj" fmla="val 84966"/>
            </a:avLst>
          </a:prstGeom>
          <a:solidFill>
            <a:srgbClr val="6237C8"/>
          </a:solidFill>
          <a:ln/>
        </p:spPr>
      </p:sp>
      <p:sp>
        <p:nvSpPr>
          <p:cNvPr id="14" name="Text 11"/>
          <p:cNvSpPr/>
          <p:nvPr/>
        </p:nvSpPr>
        <p:spPr>
          <a:xfrm>
            <a:off x="6410087" y="4872276"/>
            <a:ext cx="2543413" cy="317897"/>
          </a:xfrm>
          <a:prstGeom prst="rect">
            <a:avLst/>
          </a:prstGeom>
          <a:noFill/>
          <a:ln/>
        </p:spPr>
        <p:txBody>
          <a:bodyPr wrap="none" lIns="0" tIns="0" rIns="0" bIns="0" rtlCol="0" anchor="t"/>
          <a:lstStyle/>
          <a:p>
            <a:pPr marL="0" indent="0" algn="l">
              <a:lnSpc>
                <a:spcPts val="2500"/>
              </a:lnSpc>
              <a:buNone/>
            </a:pPr>
            <a:r>
              <a:rPr lang="en-US" sz="2000" b="1" dirty="0">
                <a:solidFill>
                  <a:srgbClr val="272525"/>
                </a:solidFill>
                <a:latin typeface="Calisto MT" panose="02040603050505030304" pitchFamily="18" charset="0"/>
                <a:ea typeface="Petrona Bold" pitchFamily="34" charset="-122"/>
                <a:cs typeface="Petrona Bold" pitchFamily="34" charset="-120"/>
              </a:rPr>
              <a:t>No Personalization</a:t>
            </a:r>
            <a:endParaRPr lang="en-US" sz="2000" dirty="0">
              <a:latin typeface="Calisto MT" panose="02040603050505030304" pitchFamily="18" charset="0"/>
            </a:endParaRPr>
          </a:p>
        </p:txBody>
      </p:sp>
      <p:sp>
        <p:nvSpPr>
          <p:cNvPr id="15" name="Text 12"/>
          <p:cNvSpPr/>
          <p:nvPr/>
        </p:nvSpPr>
        <p:spPr>
          <a:xfrm>
            <a:off x="6410087" y="5301139"/>
            <a:ext cx="7365206" cy="591979"/>
          </a:xfrm>
          <a:prstGeom prst="rect">
            <a:avLst/>
          </a:prstGeom>
          <a:noFill/>
          <a:ln/>
        </p:spPr>
        <p:txBody>
          <a:bodyPr wrap="square" lIns="0" tIns="0" rIns="0" bIns="0" rtlCol="0" anchor="t"/>
          <a:lstStyle/>
          <a:p>
            <a:pPr marL="0" indent="0" algn="l">
              <a:lnSpc>
                <a:spcPts val="2300"/>
              </a:lnSpc>
              <a:buNone/>
            </a:pPr>
            <a:r>
              <a:rPr lang="en-US" sz="1450" dirty="0">
                <a:solidFill>
                  <a:srgbClr val="272525"/>
                </a:solidFill>
                <a:latin typeface="Inter" pitchFamily="34" charset="0"/>
                <a:ea typeface="Inter" pitchFamily="34" charset="-122"/>
                <a:cs typeface="Inter" pitchFamily="34" charset="-120"/>
              </a:rPr>
              <a:t>Current systems offer generic listings without intelligent recommendations tailored to individual buyer requirements and preferences.</a:t>
            </a:r>
            <a:endParaRPr lang="en-US" sz="1450" dirty="0"/>
          </a:p>
        </p:txBody>
      </p:sp>
      <p:sp>
        <p:nvSpPr>
          <p:cNvPr id="16" name="Shape 13"/>
          <p:cNvSpPr/>
          <p:nvPr/>
        </p:nvSpPr>
        <p:spPr>
          <a:xfrm>
            <a:off x="6133743" y="6285786"/>
            <a:ext cx="7849314" cy="1436370"/>
          </a:xfrm>
          <a:prstGeom prst="roundRect">
            <a:avLst>
              <a:gd name="adj" fmla="val 7639"/>
            </a:avLst>
          </a:prstGeom>
          <a:solidFill>
            <a:srgbClr val="FDFAF7"/>
          </a:solidFill>
          <a:ln w="22860">
            <a:solidFill>
              <a:srgbClr val="C6BDDA"/>
            </a:solidFill>
            <a:prstDash val="solid"/>
          </a:ln>
        </p:spPr>
      </p:sp>
      <p:sp>
        <p:nvSpPr>
          <p:cNvPr id="17" name="Shape 14"/>
          <p:cNvSpPr/>
          <p:nvPr/>
        </p:nvSpPr>
        <p:spPr>
          <a:xfrm>
            <a:off x="6110883" y="6285786"/>
            <a:ext cx="91440" cy="1436370"/>
          </a:xfrm>
          <a:prstGeom prst="roundRect">
            <a:avLst>
              <a:gd name="adj" fmla="val 84966"/>
            </a:avLst>
          </a:prstGeom>
          <a:solidFill>
            <a:srgbClr val="6237C8"/>
          </a:solidFill>
          <a:ln/>
        </p:spPr>
      </p:sp>
      <p:sp>
        <p:nvSpPr>
          <p:cNvPr id="18" name="Text 15"/>
          <p:cNvSpPr/>
          <p:nvPr/>
        </p:nvSpPr>
        <p:spPr>
          <a:xfrm>
            <a:off x="6410086" y="6493550"/>
            <a:ext cx="6424967" cy="314087"/>
          </a:xfrm>
          <a:prstGeom prst="rect">
            <a:avLst/>
          </a:prstGeom>
          <a:noFill/>
          <a:ln/>
        </p:spPr>
        <p:txBody>
          <a:bodyPr wrap="none" lIns="0" tIns="0" rIns="0" bIns="0" rtlCol="0" anchor="t"/>
          <a:lstStyle/>
          <a:p>
            <a:pPr marL="0" indent="0" algn="l">
              <a:lnSpc>
                <a:spcPts val="2500"/>
              </a:lnSpc>
              <a:buNone/>
            </a:pPr>
            <a:r>
              <a:rPr lang="en-US" sz="2000" b="1" dirty="0">
                <a:solidFill>
                  <a:srgbClr val="272525"/>
                </a:solidFill>
                <a:latin typeface="Calisto MT" panose="02040603050505030304" pitchFamily="18" charset="0"/>
                <a:ea typeface="Petrona Bold" pitchFamily="34" charset="-122"/>
                <a:cs typeface="Petrona Bold" pitchFamily="34" charset="-120"/>
              </a:rPr>
              <a:t>Manual Decision-Making</a:t>
            </a:r>
            <a:endParaRPr lang="en-US" sz="2000" dirty="0">
              <a:latin typeface="Calisto MT" panose="02040603050505030304" pitchFamily="18" charset="0"/>
            </a:endParaRPr>
          </a:p>
        </p:txBody>
      </p:sp>
      <p:sp>
        <p:nvSpPr>
          <p:cNvPr id="19" name="Text 16"/>
          <p:cNvSpPr/>
          <p:nvPr/>
        </p:nvSpPr>
        <p:spPr>
          <a:xfrm>
            <a:off x="6410087" y="6922413"/>
            <a:ext cx="7365206" cy="591979"/>
          </a:xfrm>
          <a:prstGeom prst="rect">
            <a:avLst/>
          </a:prstGeom>
          <a:noFill/>
          <a:ln/>
        </p:spPr>
        <p:txBody>
          <a:bodyPr wrap="square" lIns="0" tIns="0" rIns="0" bIns="0" rtlCol="0" anchor="t"/>
          <a:lstStyle/>
          <a:p>
            <a:pPr marL="0" indent="0" algn="l">
              <a:lnSpc>
                <a:spcPts val="2300"/>
              </a:lnSpc>
              <a:buNone/>
            </a:pPr>
            <a:r>
              <a:rPr lang="en-US" sz="1450" dirty="0">
                <a:solidFill>
                  <a:srgbClr val="272525"/>
                </a:solidFill>
                <a:latin typeface="Inter" pitchFamily="34" charset="0"/>
                <a:ea typeface="Inter" pitchFamily="34" charset="-122"/>
                <a:cs typeface="Inter" pitchFamily="34" charset="-120"/>
              </a:rPr>
              <a:t>Real estate decisions rely on intuition and agent advice rather than quantitative analysis and predictive intelligence.</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46759" y="586740"/>
            <a:ext cx="10895113" cy="733544"/>
          </a:xfrm>
          <a:prstGeom prst="rect">
            <a:avLst/>
          </a:prstGeom>
          <a:noFill/>
          <a:ln/>
        </p:spPr>
        <p:txBody>
          <a:bodyPr wrap="none" lIns="0" tIns="0" rIns="0" bIns="0" rtlCol="0" anchor="t"/>
          <a:lstStyle/>
          <a:p>
            <a:pPr marL="0" indent="0" algn="l">
              <a:lnSpc>
                <a:spcPts val="5750"/>
              </a:lnSpc>
              <a:buNone/>
            </a:pPr>
            <a:r>
              <a:rPr lang="en-US" sz="4600" b="1" dirty="0">
                <a:solidFill>
                  <a:srgbClr val="F95F88"/>
                </a:solidFill>
                <a:latin typeface="Calisto MT" panose="02040603050505030304" pitchFamily="18" charset="0"/>
                <a:ea typeface="Petrona Bold" pitchFamily="34" charset="-122"/>
                <a:cs typeface="Petrona Bold" pitchFamily="34" charset="-120"/>
              </a:rPr>
              <a:t>Our Integrated Solution</a:t>
            </a:r>
            <a:endParaRPr lang="en-US" sz="4600" dirty="0">
              <a:latin typeface="Calisto MT" panose="02040603050505030304" pitchFamily="18" charset="0"/>
            </a:endParaRPr>
          </a:p>
        </p:txBody>
      </p:sp>
      <p:sp>
        <p:nvSpPr>
          <p:cNvPr id="3" name="Text 1"/>
          <p:cNvSpPr/>
          <p:nvPr/>
        </p:nvSpPr>
        <p:spPr>
          <a:xfrm>
            <a:off x="746760" y="1747004"/>
            <a:ext cx="13136880" cy="682704"/>
          </a:xfrm>
          <a:prstGeom prst="rect">
            <a:avLst/>
          </a:prstGeom>
          <a:noFill/>
          <a:ln/>
        </p:spPr>
        <p:txBody>
          <a:bodyPr wrap="square" lIns="0" tIns="0" rIns="0" bIns="0" rtlCol="0" anchor="t"/>
          <a:lstStyle/>
          <a:p>
            <a:pPr marL="0" indent="0" algn="l">
              <a:lnSpc>
                <a:spcPts val="2650"/>
              </a:lnSpc>
              <a:buNone/>
            </a:pPr>
            <a:r>
              <a:rPr lang="en-US" sz="1650" dirty="0">
                <a:solidFill>
                  <a:srgbClr val="272525"/>
                </a:solidFill>
                <a:latin typeface="Inter" pitchFamily="34" charset="0"/>
                <a:ea typeface="Inter" pitchFamily="34" charset="-122"/>
                <a:cs typeface="Inter" pitchFamily="34" charset="-120"/>
              </a:rPr>
              <a:t>A unified platform combining data collection, machine learning, advanced analytics, and intelligent recommendations into one seamless ecosystem.</a:t>
            </a:r>
            <a:endParaRPr lang="en-US" sz="1650" dirty="0"/>
          </a:p>
        </p:txBody>
      </p:sp>
      <p:pic>
        <p:nvPicPr>
          <p:cNvPr id="4" name="Image 0" descr="preencoded.png"/>
          <p:cNvPicPr>
            <a:picLocks noChangeAspect="1"/>
          </p:cNvPicPr>
          <p:nvPr/>
        </p:nvPicPr>
        <p:blipFill>
          <a:blip r:embed="rId3"/>
          <a:stretch>
            <a:fillRect/>
          </a:stretch>
        </p:blipFill>
        <p:spPr>
          <a:xfrm>
            <a:off x="957143" y="2669738"/>
            <a:ext cx="12716113" cy="4771668"/>
          </a:xfrm>
          <a:prstGeom prst="rect">
            <a:avLst/>
          </a:prstGeom>
        </p:spPr>
      </p:pic>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816842" y="3885168"/>
            <a:ext cx="656839" cy="656839"/>
          </a:xfrm>
          <a:prstGeom prst="rect">
            <a:avLst/>
          </a:prstGeom>
        </p:spPr>
      </p:pic>
      <p:sp>
        <p:nvSpPr>
          <p:cNvPr id="6" name="Text 2"/>
          <p:cNvSpPr/>
          <p:nvPr/>
        </p:nvSpPr>
        <p:spPr>
          <a:xfrm>
            <a:off x="11231641" y="6061357"/>
            <a:ext cx="1917969" cy="812838"/>
          </a:xfrm>
          <a:prstGeom prst="rect">
            <a:avLst/>
          </a:prstGeom>
          <a:noFill/>
          <a:ln/>
        </p:spPr>
        <p:txBody>
          <a:bodyPr wrap="square" lIns="0" tIns="0" rIns="0" bIns="0" rtlCol="0" anchor="t"/>
          <a:lstStyle/>
          <a:p>
            <a:pPr marL="0" indent="0" algn="ctr">
              <a:lnSpc>
                <a:spcPts val="1850"/>
              </a:lnSpc>
              <a:buNone/>
            </a:pPr>
            <a:r>
              <a:rPr lang="en-US" sz="1450" b="1" dirty="0">
                <a:solidFill>
                  <a:srgbClr val="272525"/>
                </a:solidFill>
                <a:latin typeface="Calisto MT" panose="02040603050505030304" pitchFamily="18" charset="0"/>
                <a:ea typeface="Petrona Bold" pitchFamily="34" charset="-122"/>
                <a:cs typeface="Petrona Bold" pitchFamily="34" charset="-120"/>
              </a:rPr>
              <a:t>Recommendations</a:t>
            </a:r>
            <a:endParaRPr lang="en-US" sz="1450" dirty="0">
              <a:latin typeface="Calisto MT" panose="02040603050505030304" pitchFamily="18" charset="0"/>
            </a:endParaRPr>
          </a:p>
        </p:txBody>
      </p:sp>
      <p:pic>
        <p:nvPicPr>
          <p:cNvPr id="7"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412198" y="3886399"/>
            <a:ext cx="656838" cy="656839"/>
          </a:xfrm>
          <a:prstGeom prst="rect">
            <a:avLst/>
          </a:prstGeom>
        </p:spPr>
      </p:pic>
      <p:sp>
        <p:nvSpPr>
          <p:cNvPr id="8" name="Text 3"/>
          <p:cNvSpPr/>
          <p:nvPr/>
        </p:nvSpPr>
        <p:spPr>
          <a:xfrm>
            <a:off x="8814474" y="6264566"/>
            <a:ext cx="1917969" cy="406419"/>
          </a:xfrm>
          <a:prstGeom prst="rect">
            <a:avLst/>
          </a:prstGeom>
          <a:noFill/>
          <a:ln/>
        </p:spPr>
        <p:txBody>
          <a:bodyPr wrap="none" lIns="0" tIns="0" rIns="0" bIns="0" rtlCol="0" anchor="t"/>
          <a:lstStyle/>
          <a:p>
            <a:pPr marL="0" indent="0" algn="ctr">
              <a:lnSpc>
                <a:spcPts val="1850"/>
              </a:lnSpc>
              <a:buNone/>
            </a:pPr>
            <a:r>
              <a:rPr lang="en-US" sz="1450" b="1" dirty="0">
                <a:solidFill>
                  <a:srgbClr val="272525"/>
                </a:solidFill>
                <a:latin typeface="Calisto MT" panose="02040603050505030304" pitchFamily="18" charset="0"/>
                <a:ea typeface="Petrona Bold" pitchFamily="34" charset="-122"/>
                <a:cs typeface="Petrona Bold" pitchFamily="34" charset="-120"/>
              </a:rPr>
              <a:t>Analytics</a:t>
            </a:r>
            <a:endParaRPr lang="en-US" sz="1450" dirty="0">
              <a:latin typeface="Calisto MT" panose="02040603050505030304" pitchFamily="18" charset="0"/>
            </a:endParaRPr>
          </a:p>
        </p:txBody>
      </p:sp>
      <p:pic>
        <p:nvPicPr>
          <p:cNvPr id="9"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008167" y="3886399"/>
            <a:ext cx="656839" cy="656839"/>
          </a:xfrm>
          <a:prstGeom prst="rect">
            <a:avLst/>
          </a:prstGeom>
        </p:spPr>
      </p:pic>
      <p:sp>
        <p:nvSpPr>
          <p:cNvPr id="10" name="Text 4"/>
          <p:cNvSpPr/>
          <p:nvPr/>
        </p:nvSpPr>
        <p:spPr>
          <a:xfrm>
            <a:off x="6410444" y="6264566"/>
            <a:ext cx="1917969" cy="406419"/>
          </a:xfrm>
          <a:prstGeom prst="rect">
            <a:avLst/>
          </a:prstGeom>
          <a:noFill/>
          <a:ln/>
        </p:spPr>
        <p:txBody>
          <a:bodyPr wrap="none" lIns="0" tIns="0" rIns="0" bIns="0" rtlCol="0" anchor="t"/>
          <a:lstStyle/>
          <a:p>
            <a:pPr marL="0" indent="0" algn="ctr">
              <a:lnSpc>
                <a:spcPts val="1850"/>
              </a:lnSpc>
              <a:buNone/>
            </a:pPr>
            <a:r>
              <a:rPr lang="en-US" sz="1450" b="1" dirty="0">
                <a:solidFill>
                  <a:srgbClr val="272525"/>
                </a:solidFill>
                <a:latin typeface="Calisto MT" panose="02040603050505030304" pitchFamily="18" charset="0"/>
                <a:ea typeface="Petrona Bold" pitchFamily="34" charset="-122"/>
                <a:cs typeface="Petrona Bold" pitchFamily="34" charset="-120"/>
              </a:rPr>
              <a:t>ML Models</a:t>
            </a:r>
            <a:endParaRPr lang="en-US" sz="1450" dirty="0">
              <a:latin typeface="Calisto MT" panose="02040603050505030304" pitchFamily="18" charset="0"/>
            </a:endParaRPr>
          </a:p>
        </p:txBody>
      </p:sp>
      <p:pic>
        <p:nvPicPr>
          <p:cNvPr id="11"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604138" y="3886399"/>
            <a:ext cx="656839" cy="656839"/>
          </a:xfrm>
          <a:prstGeom prst="rect">
            <a:avLst/>
          </a:prstGeom>
        </p:spPr>
      </p:pic>
      <p:sp>
        <p:nvSpPr>
          <p:cNvPr id="12" name="Text 5"/>
          <p:cNvSpPr/>
          <p:nvPr/>
        </p:nvSpPr>
        <p:spPr>
          <a:xfrm>
            <a:off x="4006414" y="6061357"/>
            <a:ext cx="1917969" cy="812838"/>
          </a:xfrm>
          <a:prstGeom prst="rect">
            <a:avLst/>
          </a:prstGeom>
          <a:noFill/>
          <a:ln/>
        </p:spPr>
        <p:txBody>
          <a:bodyPr wrap="square" lIns="0" tIns="0" rIns="0" bIns="0" rtlCol="0" anchor="t"/>
          <a:lstStyle/>
          <a:p>
            <a:pPr marL="0" indent="0" algn="ctr">
              <a:lnSpc>
                <a:spcPts val="1850"/>
              </a:lnSpc>
              <a:buNone/>
            </a:pPr>
            <a:r>
              <a:rPr lang="en-US" sz="1450" b="1" dirty="0">
                <a:solidFill>
                  <a:srgbClr val="272525"/>
                </a:solidFill>
                <a:latin typeface="Calisto MT" panose="02040603050505030304" pitchFamily="18" charset="0"/>
                <a:ea typeface="Petrona Bold" pitchFamily="34" charset="-122"/>
                <a:cs typeface="Petrona Bold" pitchFamily="34" charset="-120"/>
              </a:rPr>
              <a:t>Data Processing</a:t>
            </a:r>
            <a:endParaRPr lang="en-US" sz="1450" dirty="0">
              <a:latin typeface="Calisto MT" panose="02040603050505030304" pitchFamily="18" charset="0"/>
            </a:endParaRPr>
          </a:p>
        </p:txBody>
      </p:sp>
      <p:pic>
        <p:nvPicPr>
          <p:cNvPr id="13" name="Image 5"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186971" y="3886399"/>
            <a:ext cx="656839" cy="656839"/>
          </a:xfrm>
          <a:prstGeom prst="rect">
            <a:avLst/>
          </a:prstGeom>
        </p:spPr>
      </p:pic>
      <p:sp>
        <p:nvSpPr>
          <p:cNvPr id="14" name="Text 6"/>
          <p:cNvSpPr/>
          <p:nvPr/>
        </p:nvSpPr>
        <p:spPr>
          <a:xfrm>
            <a:off x="1549837" y="6264566"/>
            <a:ext cx="1917969" cy="406419"/>
          </a:xfrm>
          <a:prstGeom prst="rect">
            <a:avLst/>
          </a:prstGeom>
          <a:noFill/>
          <a:ln/>
        </p:spPr>
        <p:txBody>
          <a:bodyPr wrap="none" lIns="0" tIns="0" rIns="0" bIns="0" rtlCol="0" anchor="t"/>
          <a:lstStyle/>
          <a:p>
            <a:pPr marL="0" indent="0" algn="ctr">
              <a:lnSpc>
                <a:spcPts val="1850"/>
              </a:lnSpc>
              <a:buNone/>
            </a:pPr>
            <a:r>
              <a:rPr lang="en-US" sz="1450" b="1" dirty="0">
                <a:solidFill>
                  <a:srgbClr val="272525"/>
                </a:solidFill>
                <a:latin typeface="Calisto MT" panose="02040603050505030304" pitchFamily="18" charset="0"/>
                <a:ea typeface="Petrona Bold" pitchFamily="34" charset="-122"/>
                <a:cs typeface="Petrona Bold" pitchFamily="34" charset="-120"/>
              </a:rPr>
              <a:t>Data Input</a:t>
            </a:r>
            <a:endParaRPr lang="en-US" sz="1450" dirty="0">
              <a:latin typeface="Calisto MT" panose="02040603050505030304" pitchFamily="18" charset="0"/>
            </a:endParaRPr>
          </a:p>
        </p:txBody>
      </p:sp>
      <p:sp>
        <p:nvSpPr>
          <p:cNvPr id="15" name="Text 7"/>
          <p:cNvSpPr/>
          <p:nvPr/>
        </p:nvSpPr>
        <p:spPr>
          <a:xfrm>
            <a:off x="746760" y="7681436"/>
            <a:ext cx="13136880" cy="273129"/>
          </a:xfrm>
          <a:prstGeom prst="rect">
            <a:avLst/>
          </a:prstGeom>
          <a:noFill/>
          <a:ln/>
        </p:spPr>
        <p:txBody>
          <a:bodyPr wrap="none" lIns="0" tIns="0" rIns="0" bIns="0" rtlCol="0" anchor="t"/>
          <a:lstStyle/>
          <a:p>
            <a:pPr marL="0" indent="0" algn="l">
              <a:lnSpc>
                <a:spcPts val="2150"/>
              </a:lnSpc>
              <a:buNone/>
            </a:pPr>
            <a:r>
              <a:rPr lang="en-US" sz="1300" dirty="0">
                <a:solidFill>
                  <a:srgbClr val="272525"/>
                </a:solidFill>
                <a:latin typeface="Inter" pitchFamily="34" charset="0"/>
                <a:ea typeface="Inter" pitchFamily="34" charset="-122"/>
                <a:cs typeface="Inter" pitchFamily="34" charset="-120"/>
              </a:rPr>
              <a:t>Each module works together to transform raw real estate data into actionable insights and personalized recommendations for users.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15328" y="562094"/>
            <a:ext cx="12019365" cy="702588"/>
          </a:xfrm>
          <a:prstGeom prst="rect">
            <a:avLst/>
          </a:prstGeom>
          <a:noFill/>
          <a:ln/>
        </p:spPr>
        <p:txBody>
          <a:bodyPr wrap="none" lIns="0" tIns="0" rIns="0" bIns="0" rtlCol="0" anchor="t"/>
          <a:lstStyle/>
          <a:p>
            <a:pPr marL="0" indent="0" algn="l">
              <a:lnSpc>
                <a:spcPts val="5500"/>
              </a:lnSpc>
              <a:buNone/>
            </a:pPr>
            <a:r>
              <a:rPr lang="en-US" sz="4400" b="1" dirty="0">
                <a:solidFill>
                  <a:srgbClr val="F95F88"/>
                </a:solidFill>
                <a:latin typeface="Calisto MT" panose="02040603050505030304" pitchFamily="18" charset="0"/>
                <a:ea typeface="Petrona Bold" pitchFamily="34" charset="-122"/>
                <a:cs typeface="Petrona Bold" pitchFamily="34" charset="-120"/>
              </a:rPr>
              <a:t>Complete System Architecture</a:t>
            </a:r>
            <a:endParaRPr lang="en-US" sz="4400" dirty="0">
              <a:latin typeface="Calisto MT" panose="02040603050505030304" pitchFamily="18" charset="0"/>
            </a:endParaRPr>
          </a:p>
        </p:txBody>
      </p:sp>
      <p:sp>
        <p:nvSpPr>
          <p:cNvPr id="3" name="Text 1"/>
          <p:cNvSpPr/>
          <p:nvPr/>
        </p:nvSpPr>
        <p:spPr>
          <a:xfrm>
            <a:off x="715328" y="1673423"/>
            <a:ext cx="204311" cy="255389"/>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Petrona Light" pitchFamily="34" charset="0"/>
                <a:ea typeface="Petrona Light" pitchFamily="34" charset="-122"/>
                <a:cs typeface="Petrona Light" pitchFamily="34" charset="-120"/>
              </a:rPr>
              <a:t>01</a:t>
            </a:r>
            <a:endParaRPr lang="en-US" sz="1600" dirty="0"/>
          </a:p>
        </p:txBody>
      </p:sp>
      <p:sp>
        <p:nvSpPr>
          <p:cNvPr id="4" name="Shape 2"/>
          <p:cNvSpPr/>
          <p:nvPr/>
        </p:nvSpPr>
        <p:spPr>
          <a:xfrm>
            <a:off x="715328" y="1997869"/>
            <a:ext cx="4263628" cy="22860"/>
          </a:xfrm>
          <a:prstGeom prst="rect">
            <a:avLst/>
          </a:prstGeom>
          <a:solidFill>
            <a:srgbClr val="6237C8"/>
          </a:solidFill>
          <a:ln/>
        </p:spPr>
      </p:sp>
      <p:sp>
        <p:nvSpPr>
          <p:cNvPr id="5" name="Text 3"/>
          <p:cNvSpPr/>
          <p:nvPr/>
        </p:nvSpPr>
        <p:spPr>
          <a:xfrm>
            <a:off x="715328" y="2145744"/>
            <a:ext cx="2810470" cy="351353"/>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Calisto MT" panose="02040603050505030304" pitchFamily="18" charset="0"/>
                <a:ea typeface="Petrona Bold" pitchFamily="34" charset="-122"/>
                <a:cs typeface="Petrona Bold" pitchFamily="34" charset="-120"/>
              </a:rPr>
              <a:t>Data Scraper</a:t>
            </a:r>
            <a:endParaRPr lang="en-US" sz="2200" dirty="0">
              <a:latin typeface="Calisto MT" panose="02040603050505030304" pitchFamily="18" charset="0"/>
            </a:endParaRPr>
          </a:p>
        </p:txBody>
      </p:sp>
      <p:sp>
        <p:nvSpPr>
          <p:cNvPr id="6" name="Text 4"/>
          <p:cNvSpPr/>
          <p:nvPr/>
        </p:nvSpPr>
        <p:spPr>
          <a:xfrm>
            <a:off x="715328" y="2619732"/>
            <a:ext cx="4263628" cy="981194"/>
          </a:xfrm>
          <a:prstGeom prst="rect">
            <a:avLst/>
          </a:prstGeom>
          <a:noFill/>
          <a:ln/>
        </p:spPr>
        <p:txBody>
          <a:bodyPr wrap="square" lIns="0" tIns="0" rIns="0" bIns="0" rtlCol="0" anchor="t"/>
          <a:lstStyle/>
          <a:p>
            <a:pPr marL="0" indent="0" algn="l">
              <a:lnSpc>
                <a:spcPts val="2550"/>
              </a:lnSpc>
              <a:buNone/>
            </a:pPr>
            <a:r>
              <a:rPr lang="en-US" sz="1600" dirty="0">
                <a:solidFill>
                  <a:srgbClr val="272525"/>
                </a:solidFill>
                <a:latin typeface="Inter" pitchFamily="34" charset="0"/>
                <a:ea typeface="Inter" pitchFamily="34" charset="-122"/>
                <a:cs typeface="Inter" pitchFamily="34" charset="-120"/>
              </a:rPr>
              <a:t>Collects property listings, prices, and features from online real estate platforms automatically.</a:t>
            </a:r>
            <a:endParaRPr lang="en-US" sz="1600" dirty="0"/>
          </a:p>
        </p:txBody>
      </p:sp>
      <p:sp>
        <p:nvSpPr>
          <p:cNvPr id="7" name="Text 5"/>
          <p:cNvSpPr/>
          <p:nvPr/>
        </p:nvSpPr>
        <p:spPr>
          <a:xfrm>
            <a:off x="5183267" y="1673423"/>
            <a:ext cx="204311" cy="255389"/>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Petrona Light" pitchFamily="34" charset="0"/>
                <a:ea typeface="Petrona Light" pitchFamily="34" charset="-122"/>
                <a:cs typeface="Petrona Light" pitchFamily="34" charset="-120"/>
              </a:rPr>
              <a:t>02</a:t>
            </a:r>
            <a:endParaRPr lang="en-US" sz="1600" dirty="0"/>
          </a:p>
        </p:txBody>
      </p:sp>
      <p:sp>
        <p:nvSpPr>
          <p:cNvPr id="8" name="Shape 6"/>
          <p:cNvSpPr/>
          <p:nvPr/>
        </p:nvSpPr>
        <p:spPr>
          <a:xfrm>
            <a:off x="5183267" y="1997869"/>
            <a:ext cx="4263747" cy="22860"/>
          </a:xfrm>
          <a:prstGeom prst="rect">
            <a:avLst/>
          </a:prstGeom>
          <a:solidFill>
            <a:srgbClr val="6237C8"/>
          </a:solidFill>
          <a:ln/>
        </p:spPr>
      </p:sp>
      <p:sp>
        <p:nvSpPr>
          <p:cNvPr id="9" name="Text 7"/>
          <p:cNvSpPr/>
          <p:nvPr/>
        </p:nvSpPr>
        <p:spPr>
          <a:xfrm>
            <a:off x="5183267" y="2145744"/>
            <a:ext cx="2810470" cy="351353"/>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Calisto MT" panose="02040603050505030304" pitchFamily="18" charset="0"/>
                <a:ea typeface="Petrona Bold" pitchFamily="34" charset="-122"/>
                <a:cs typeface="Petrona Bold" pitchFamily="34" charset="-120"/>
              </a:rPr>
              <a:t>Data Cleaner</a:t>
            </a:r>
            <a:endParaRPr lang="en-US" sz="2200" dirty="0">
              <a:latin typeface="Calisto MT" panose="02040603050505030304" pitchFamily="18" charset="0"/>
            </a:endParaRPr>
          </a:p>
        </p:txBody>
      </p:sp>
      <p:sp>
        <p:nvSpPr>
          <p:cNvPr id="10" name="Text 8"/>
          <p:cNvSpPr/>
          <p:nvPr/>
        </p:nvSpPr>
        <p:spPr>
          <a:xfrm>
            <a:off x="5183267" y="2619732"/>
            <a:ext cx="4263747" cy="981194"/>
          </a:xfrm>
          <a:prstGeom prst="rect">
            <a:avLst/>
          </a:prstGeom>
          <a:noFill/>
          <a:ln/>
        </p:spPr>
        <p:txBody>
          <a:bodyPr wrap="square" lIns="0" tIns="0" rIns="0" bIns="0" rtlCol="0" anchor="t"/>
          <a:lstStyle/>
          <a:p>
            <a:pPr marL="0" indent="0" algn="l">
              <a:lnSpc>
                <a:spcPts val="2550"/>
              </a:lnSpc>
              <a:buNone/>
            </a:pPr>
            <a:r>
              <a:rPr lang="en-US" sz="1600" dirty="0">
                <a:solidFill>
                  <a:srgbClr val="272525"/>
                </a:solidFill>
                <a:latin typeface="Inter" pitchFamily="34" charset="0"/>
                <a:ea typeface="Inter" pitchFamily="34" charset="-122"/>
                <a:cs typeface="Inter" pitchFamily="34" charset="-120"/>
              </a:rPr>
              <a:t>Removes duplicates, handles missing values, and standardizes data formats for consistency.</a:t>
            </a:r>
            <a:endParaRPr lang="en-US" sz="1600" dirty="0"/>
          </a:p>
        </p:txBody>
      </p:sp>
      <p:sp>
        <p:nvSpPr>
          <p:cNvPr id="11" name="Text 9"/>
          <p:cNvSpPr/>
          <p:nvPr/>
        </p:nvSpPr>
        <p:spPr>
          <a:xfrm>
            <a:off x="9651325" y="1673423"/>
            <a:ext cx="204311" cy="255389"/>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Petrona Light" pitchFamily="34" charset="0"/>
                <a:ea typeface="Petrona Light" pitchFamily="34" charset="-122"/>
                <a:cs typeface="Petrona Light" pitchFamily="34" charset="-120"/>
              </a:rPr>
              <a:t>03</a:t>
            </a:r>
            <a:endParaRPr lang="en-US" sz="1600" dirty="0"/>
          </a:p>
        </p:txBody>
      </p:sp>
      <p:sp>
        <p:nvSpPr>
          <p:cNvPr id="12" name="Shape 10"/>
          <p:cNvSpPr/>
          <p:nvPr/>
        </p:nvSpPr>
        <p:spPr>
          <a:xfrm>
            <a:off x="9651325" y="1997869"/>
            <a:ext cx="4263628" cy="22860"/>
          </a:xfrm>
          <a:prstGeom prst="rect">
            <a:avLst/>
          </a:prstGeom>
          <a:solidFill>
            <a:srgbClr val="6237C8"/>
          </a:solidFill>
          <a:ln/>
        </p:spPr>
      </p:sp>
      <p:sp>
        <p:nvSpPr>
          <p:cNvPr id="13" name="Text 11"/>
          <p:cNvSpPr/>
          <p:nvPr/>
        </p:nvSpPr>
        <p:spPr>
          <a:xfrm>
            <a:off x="9651325" y="2145744"/>
            <a:ext cx="2810470" cy="351353"/>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Calisto MT" panose="02040603050505030304" pitchFamily="18" charset="0"/>
                <a:ea typeface="Petrona Bold" pitchFamily="34" charset="-122"/>
                <a:cs typeface="Petrona Bold" pitchFamily="34" charset="-120"/>
              </a:rPr>
              <a:t>Exploratory Analysis</a:t>
            </a:r>
            <a:endParaRPr lang="en-US" sz="2200" dirty="0">
              <a:latin typeface="Calisto MT" panose="02040603050505030304" pitchFamily="18" charset="0"/>
            </a:endParaRPr>
          </a:p>
        </p:txBody>
      </p:sp>
      <p:sp>
        <p:nvSpPr>
          <p:cNvPr id="14" name="Text 12"/>
          <p:cNvSpPr/>
          <p:nvPr/>
        </p:nvSpPr>
        <p:spPr>
          <a:xfrm>
            <a:off x="9651325" y="2619732"/>
            <a:ext cx="4263628" cy="981194"/>
          </a:xfrm>
          <a:prstGeom prst="rect">
            <a:avLst/>
          </a:prstGeom>
          <a:noFill/>
          <a:ln/>
        </p:spPr>
        <p:txBody>
          <a:bodyPr wrap="square" lIns="0" tIns="0" rIns="0" bIns="0" rtlCol="0" anchor="t"/>
          <a:lstStyle/>
          <a:p>
            <a:pPr marL="0" indent="0" algn="l">
              <a:lnSpc>
                <a:spcPts val="2550"/>
              </a:lnSpc>
              <a:buNone/>
            </a:pPr>
            <a:r>
              <a:rPr lang="en-US" sz="1600" dirty="0">
                <a:solidFill>
                  <a:srgbClr val="272525"/>
                </a:solidFill>
                <a:latin typeface="Inter" pitchFamily="34" charset="0"/>
                <a:ea typeface="Inter" pitchFamily="34" charset="-122"/>
                <a:cs typeface="Inter" pitchFamily="34" charset="-120"/>
              </a:rPr>
              <a:t>Analyzes distributions, correlations, and patterns to understand data characteristics deeply.</a:t>
            </a:r>
            <a:endParaRPr lang="en-US" sz="1600" dirty="0"/>
          </a:p>
        </p:txBody>
      </p:sp>
      <p:sp>
        <p:nvSpPr>
          <p:cNvPr id="15" name="Text 13"/>
          <p:cNvSpPr/>
          <p:nvPr/>
        </p:nvSpPr>
        <p:spPr>
          <a:xfrm>
            <a:off x="715328" y="3958471"/>
            <a:ext cx="204311" cy="255389"/>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Petrona Light" pitchFamily="34" charset="0"/>
                <a:ea typeface="Petrona Light" pitchFamily="34" charset="-122"/>
                <a:cs typeface="Petrona Light" pitchFamily="34" charset="-120"/>
              </a:rPr>
              <a:t>04</a:t>
            </a:r>
            <a:endParaRPr lang="en-US" sz="1600" dirty="0"/>
          </a:p>
        </p:txBody>
      </p:sp>
      <p:sp>
        <p:nvSpPr>
          <p:cNvPr id="16" name="Shape 14"/>
          <p:cNvSpPr/>
          <p:nvPr/>
        </p:nvSpPr>
        <p:spPr>
          <a:xfrm>
            <a:off x="715328" y="4282916"/>
            <a:ext cx="4263628" cy="22860"/>
          </a:xfrm>
          <a:prstGeom prst="rect">
            <a:avLst/>
          </a:prstGeom>
          <a:solidFill>
            <a:srgbClr val="6237C8"/>
          </a:solidFill>
          <a:ln/>
        </p:spPr>
      </p:sp>
      <p:sp>
        <p:nvSpPr>
          <p:cNvPr id="17" name="Text 15"/>
          <p:cNvSpPr/>
          <p:nvPr/>
        </p:nvSpPr>
        <p:spPr>
          <a:xfrm>
            <a:off x="715328" y="4430792"/>
            <a:ext cx="2810470" cy="351353"/>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Calisto MT" panose="02040603050505030304" pitchFamily="18" charset="0"/>
                <a:ea typeface="Petrona Bold" pitchFamily="34" charset="-122"/>
                <a:cs typeface="Petrona Bold" pitchFamily="34" charset="-120"/>
              </a:rPr>
              <a:t>Feature Engineering</a:t>
            </a:r>
            <a:endParaRPr lang="en-US" sz="2200" dirty="0">
              <a:latin typeface="Calisto MT" panose="02040603050505030304" pitchFamily="18" charset="0"/>
            </a:endParaRPr>
          </a:p>
        </p:txBody>
      </p:sp>
      <p:sp>
        <p:nvSpPr>
          <p:cNvPr id="18" name="Text 16"/>
          <p:cNvSpPr/>
          <p:nvPr/>
        </p:nvSpPr>
        <p:spPr>
          <a:xfrm>
            <a:off x="715328" y="4904780"/>
            <a:ext cx="4263628" cy="981194"/>
          </a:xfrm>
          <a:prstGeom prst="rect">
            <a:avLst/>
          </a:prstGeom>
          <a:noFill/>
          <a:ln/>
        </p:spPr>
        <p:txBody>
          <a:bodyPr wrap="square" lIns="0" tIns="0" rIns="0" bIns="0" rtlCol="0" anchor="t"/>
          <a:lstStyle/>
          <a:p>
            <a:pPr marL="0" indent="0" algn="l">
              <a:lnSpc>
                <a:spcPts val="2550"/>
              </a:lnSpc>
              <a:buNone/>
            </a:pPr>
            <a:r>
              <a:rPr lang="en-US" sz="1600" dirty="0">
                <a:solidFill>
                  <a:srgbClr val="272525"/>
                </a:solidFill>
                <a:latin typeface="Inter" pitchFamily="34" charset="0"/>
                <a:ea typeface="Inter" pitchFamily="34" charset="-122"/>
                <a:cs typeface="Inter" pitchFamily="34" charset="-120"/>
              </a:rPr>
              <a:t>Creates meaningful features and transforms raw variables into predictive inputs for models.</a:t>
            </a:r>
            <a:endParaRPr lang="en-US" sz="1600" dirty="0"/>
          </a:p>
        </p:txBody>
      </p:sp>
      <p:sp>
        <p:nvSpPr>
          <p:cNvPr id="19" name="Text 17"/>
          <p:cNvSpPr/>
          <p:nvPr/>
        </p:nvSpPr>
        <p:spPr>
          <a:xfrm>
            <a:off x="5183267" y="3958471"/>
            <a:ext cx="204311" cy="255389"/>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Petrona Light" pitchFamily="34" charset="0"/>
                <a:ea typeface="Petrona Light" pitchFamily="34" charset="-122"/>
                <a:cs typeface="Petrona Light" pitchFamily="34" charset="-120"/>
              </a:rPr>
              <a:t>05</a:t>
            </a:r>
            <a:endParaRPr lang="en-US" sz="1600" dirty="0"/>
          </a:p>
        </p:txBody>
      </p:sp>
      <p:sp>
        <p:nvSpPr>
          <p:cNvPr id="20" name="Shape 18"/>
          <p:cNvSpPr/>
          <p:nvPr/>
        </p:nvSpPr>
        <p:spPr>
          <a:xfrm>
            <a:off x="5183267" y="4282916"/>
            <a:ext cx="4263747" cy="22860"/>
          </a:xfrm>
          <a:prstGeom prst="rect">
            <a:avLst/>
          </a:prstGeom>
          <a:solidFill>
            <a:srgbClr val="6237C8"/>
          </a:solidFill>
          <a:ln/>
        </p:spPr>
      </p:sp>
      <p:sp>
        <p:nvSpPr>
          <p:cNvPr id="21" name="Text 19"/>
          <p:cNvSpPr/>
          <p:nvPr/>
        </p:nvSpPr>
        <p:spPr>
          <a:xfrm>
            <a:off x="5183267" y="4430792"/>
            <a:ext cx="2810470" cy="351353"/>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Calisto MT" panose="02040603050505030304" pitchFamily="18" charset="0"/>
                <a:ea typeface="Petrona Bold" pitchFamily="34" charset="-122"/>
                <a:cs typeface="Petrona Bold" pitchFamily="34" charset="-120"/>
              </a:rPr>
              <a:t>Model Training</a:t>
            </a:r>
            <a:endParaRPr lang="en-US" sz="2200" dirty="0">
              <a:latin typeface="Calisto MT" panose="02040603050505030304" pitchFamily="18" charset="0"/>
            </a:endParaRPr>
          </a:p>
        </p:txBody>
      </p:sp>
      <p:sp>
        <p:nvSpPr>
          <p:cNvPr id="22" name="Text 20"/>
          <p:cNvSpPr/>
          <p:nvPr/>
        </p:nvSpPr>
        <p:spPr>
          <a:xfrm>
            <a:off x="5183267" y="4904780"/>
            <a:ext cx="4263747" cy="654129"/>
          </a:xfrm>
          <a:prstGeom prst="rect">
            <a:avLst/>
          </a:prstGeom>
          <a:noFill/>
          <a:ln/>
        </p:spPr>
        <p:txBody>
          <a:bodyPr wrap="square" lIns="0" tIns="0" rIns="0" bIns="0" rtlCol="0" anchor="t"/>
          <a:lstStyle/>
          <a:p>
            <a:pPr marL="0" indent="0" algn="l">
              <a:lnSpc>
                <a:spcPts val="2550"/>
              </a:lnSpc>
              <a:buNone/>
            </a:pPr>
            <a:r>
              <a:rPr lang="en-US" sz="1600" dirty="0">
                <a:solidFill>
                  <a:srgbClr val="272525"/>
                </a:solidFill>
                <a:latin typeface="Inter" pitchFamily="34" charset="0"/>
                <a:ea typeface="Inter" pitchFamily="34" charset="-122"/>
                <a:cs typeface="Inter" pitchFamily="34" charset="-120"/>
              </a:rPr>
              <a:t>Trains multiple regression models using processed features on historical price data.</a:t>
            </a:r>
            <a:endParaRPr lang="en-US" sz="1600" dirty="0"/>
          </a:p>
        </p:txBody>
      </p:sp>
      <p:sp>
        <p:nvSpPr>
          <p:cNvPr id="23" name="Text 21"/>
          <p:cNvSpPr/>
          <p:nvPr/>
        </p:nvSpPr>
        <p:spPr>
          <a:xfrm>
            <a:off x="9651325" y="3958471"/>
            <a:ext cx="204311" cy="255389"/>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Petrona Light" pitchFamily="34" charset="0"/>
                <a:ea typeface="Petrona Light" pitchFamily="34" charset="-122"/>
                <a:cs typeface="Petrona Light" pitchFamily="34" charset="-120"/>
              </a:rPr>
              <a:t>06</a:t>
            </a:r>
            <a:endParaRPr lang="en-US" sz="1600" dirty="0"/>
          </a:p>
        </p:txBody>
      </p:sp>
      <p:sp>
        <p:nvSpPr>
          <p:cNvPr id="24" name="Shape 22"/>
          <p:cNvSpPr/>
          <p:nvPr/>
        </p:nvSpPr>
        <p:spPr>
          <a:xfrm>
            <a:off x="9651325" y="4282916"/>
            <a:ext cx="4263628" cy="22860"/>
          </a:xfrm>
          <a:prstGeom prst="rect">
            <a:avLst/>
          </a:prstGeom>
          <a:solidFill>
            <a:srgbClr val="6237C8"/>
          </a:solidFill>
          <a:ln/>
        </p:spPr>
      </p:sp>
      <p:sp>
        <p:nvSpPr>
          <p:cNvPr id="25" name="Text 23"/>
          <p:cNvSpPr/>
          <p:nvPr/>
        </p:nvSpPr>
        <p:spPr>
          <a:xfrm>
            <a:off x="9651325" y="4430792"/>
            <a:ext cx="2810470" cy="351353"/>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Calisto MT" panose="02040603050505030304" pitchFamily="18" charset="0"/>
                <a:ea typeface="Petrona Bold" pitchFamily="34" charset="-122"/>
                <a:cs typeface="Petrona Bold" pitchFamily="34" charset="-120"/>
              </a:rPr>
              <a:t>Optimization</a:t>
            </a:r>
            <a:endParaRPr lang="en-US" sz="2200" dirty="0">
              <a:latin typeface="Calisto MT" panose="02040603050505030304" pitchFamily="18" charset="0"/>
            </a:endParaRPr>
          </a:p>
        </p:txBody>
      </p:sp>
      <p:sp>
        <p:nvSpPr>
          <p:cNvPr id="26" name="Text 24"/>
          <p:cNvSpPr/>
          <p:nvPr/>
        </p:nvSpPr>
        <p:spPr>
          <a:xfrm>
            <a:off x="9651325" y="4904780"/>
            <a:ext cx="4263628" cy="654129"/>
          </a:xfrm>
          <a:prstGeom prst="rect">
            <a:avLst/>
          </a:prstGeom>
          <a:noFill/>
          <a:ln/>
        </p:spPr>
        <p:txBody>
          <a:bodyPr wrap="square" lIns="0" tIns="0" rIns="0" bIns="0" rtlCol="0" anchor="t"/>
          <a:lstStyle/>
          <a:p>
            <a:pPr marL="0" indent="0" algn="l">
              <a:lnSpc>
                <a:spcPts val="2550"/>
              </a:lnSpc>
              <a:buNone/>
            </a:pPr>
            <a:r>
              <a:rPr lang="en-US" sz="1600" dirty="0">
                <a:solidFill>
                  <a:srgbClr val="272525"/>
                </a:solidFill>
                <a:latin typeface="Inter" pitchFamily="34" charset="0"/>
                <a:ea typeface="Inter" pitchFamily="34" charset="-122"/>
                <a:cs typeface="Inter" pitchFamily="34" charset="-120"/>
              </a:rPr>
              <a:t>Tunes hyperparameters to maximize model accuracy and generalization performance.</a:t>
            </a:r>
            <a:endParaRPr lang="en-US" sz="1600" dirty="0"/>
          </a:p>
        </p:txBody>
      </p:sp>
      <p:sp>
        <p:nvSpPr>
          <p:cNvPr id="27" name="Text 25"/>
          <p:cNvSpPr/>
          <p:nvPr/>
        </p:nvSpPr>
        <p:spPr>
          <a:xfrm>
            <a:off x="715328" y="6243518"/>
            <a:ext cx="204311" cy="255389"/>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Petrona Light" pitchFamily="34" charset="0"/>
                <a:ea typeface="Petrona Light" pitchFamily="34" charset="-122"/>
                <a:cs typeface="Petrona Light" pitchFamily="34" charset="-120"/>
              </a:rPr>
              <a:t>07</a:t>
            </a:r>
            <a:endParaRPr lang="en-US" sz="1600" dirty="0"/>
          </a:p>
        </p:txBody>
      </p:sp>
      <p:sp>
        <p:nvSpPr>
          <p:cNvPr id="28" name="Shape 26"/>
          <p:cNvSpPr/>
          <p:nvPr/>
        </p:nvSpPr>
        <p:spPr>
          <a:xfrm>
            <a:off x="715328" y="6567964"/>
            <a:ext cx="13199626" cy="22860"/>
          </a:xfrm>
          <a:prstGeom prst="rect">
            <a:avLst/>
          </a:prstGeom>
          <a:solidFill>
            <a:srgbClr val="6237C8"/>
          </a:solidFill>
          <a:ln/>
        </p:spPr>
      </p:sp>
      <p:sp>
        <p:nvSpPr>
          <p:cNvPr id="29" name="Text 27"/>
          <p:cNvSpPr/>
          <p:nvPr/>
        </p:nvSpPr>
        <p:spPr>
          <a:xfrm>
            <a:off x="715328" y="6715839"/>
            <a:ext cx="8818965" cy="420410"/>
          </a:xfrm>
          <a:prstGeom prst="rect">
            <a:avLst/>
          </a:prstGeom>
          <a:noFill/>
          <a:ln/>
        </p:spPr>
        <p:txBody>
          <a:bodyPr wrap="none" lIns="0" tIns="0" rIns="0" bIns="0" rtlCol="0" anchor="t"/>
          <a:lstStyle/>
          <a:p>
            <a:pPr marL="0" indent="0" algn="l">
              <a:lnSpc>
                <a:spcPts val="2750"/>
              </a:lnSpc>
              <a:buNone/>
            </a:pPr>
            <a:r>
              <a:rPr lang="en-US" sz="2200" b="1" dirty="0" err="1">
                <a:solidFill>
                  <a:srgbClr val="272525"/>
                </a:solidFill>
                <a:latin typeface="Calisto MT" panose="02040603050505030304" pitchFamily="18" charset="0"/>
                <a:ea typeface="Petrona Bold" pitchFamily="34" charset="-122"/>
                <a:cs typeface="Petrona Bold" pitchFamily="34" charset="-120"/>
              </a:rPr>
              <a:t>Streamlit</a:t>
            </a:r>
            <a:r>
              <a:rPr lang="en-US" sz="2200" b="1" dirty="0">
                <a:solidFill>
                  <a:srgbClr val="272525"/>
                </a:solidFill>
                <a:latin typeface="Calisto MT" panose="02040603050505030304" pitchFamily="18" charset="0"/>
                <a:ea typeface="Petrona Bold" pitchFamily="34" charset="-122"/>
                <a:cs typeface="Petrona Bold" pitchFamily="34" charset="-120"/>
              </a:rPr>
              <a:t> &amp; AWS Deployment</a:t>
            </a:r>
            <a:endParaRPr lang="en-US" sz="2200" dirty="0">
              <a:latin typeface="Calisto MT" panose="02040603050505030304" pitchFamily="18" charset="0"/>
            </a:endParaRPr>
          </a:p>
        </p:txBody>
      </p:sp>
      <p:sp>
        <p:nvSpPr>
          <p:cNvPr id="30" name="Text 28"/>
          <p:cNvSpPr/>
          <p:nvPr/>
        </p:nvSpPr>
        <p:spPr>
          <a:xfrm>
            <a:off x="715328" y="7189827"/>
            <a:ext cx="13199626" cy="327065"/>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Inter" pitchFamily="34" charset="0"/>
                <a:ea typeface="Inter" pitchFamily="34" charset="-122"/>
                <a:cs typeface="Inter" pitchFamily="34" charset="-120"/>
              </a:rPr>
              <a:t>Deploys the complete system as an interactive web application for end-user access.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80812" y="614720"/>
            <a:ext cx="6135410" cy="766882"/>
          </a:xfrm>
          <a:prstGeom prst="rect">
            <a:avLst/>
          </a:prstGeom>
          <a:noFill/>
          <a:ln/>
        </p:spPr>
        <p:txBody>
          <a:bodyPr wrap="none" lIns="0" tIns="0" rIns="0" bIns="0" rtlCol="0" anchor="t"/>
          <a:lstStyle/>
          <a:p>
            <a:pPr marL="0" indent="0" algn="l">
              <a:lnSpc>
                <a:spcPts val="6000"/>
              </a:lnSpc>
              <a:buNone/>
            </a:pPr>
            <a:r>
              <a:rPr lang="en-US" sz="4800" b="1" dirty="0">
                <a:solidFill>
                  <a:srgbClr val="F95F88"/>
                </a:solidFill>
                <a:latin typeface="Calisto MT" panose="02040603050505030304" pitchFamily="18" charset="0"/>
                <a:ea typeface="Petrona Bold" pitchFamily="34" charset="-122"/>
                <a:cs typeface="Petrona Bold" pitchFamily="34" charset="-120"/>
              </a:rPr>
              <a:t>Three Core Modules</a:t>
            </a:r>
            <a:endParaRPr lang="en-US" sz="4800" dirty="0">
              <a:latin typeface="Calisto MT" panose="02040603050505030304" pitchFamily="18" charset="0"/>
            </a:endParaRPr>
          </a:p>
        </p:txBody>
      </p:sp>
      <p:sp>
        <p:nvSpPr>
          <p:cNvPr id="3" name="Shape 1"/>
          <p:cNvSpPr/>
          <p:nvPr/>
        </p:nvSpPr>
        <p:spPr>
          <a:xfrm>
            <a:off x="780812" y="1827728"/>
            <a:ext cx="13068776" cy="5787152"/>
          </a:xfrm>
          <a:prstGeom prst="roundRect">
            <a:avLst>
              <a:gd name="adj" fmla="val 1619"/>
            </a:avLst>
          </a:prstGeom>
          <a:noFill/>
          <a:ln w="7620">
            <a:solidFill>
              <a:srgbClr val="000000">
                <a:alpha val="8000"/>
              </a:srgbClr>
            </a:solidFill>
            <a:prstDash val="solid"/>
          </a:ln>
        </p:spPr>
      </p:sp>
      <p:sp>
        <p:nvSpPr>
          <p:cNvPr id="4" name="Shape 2"/>
          <p:cNvSpPr/>
          <p:nvPr/>
        </p:nvSpPr>
        <p:spPr>
          <a:xfrm>
            <a:off x="788432" y="1835348"/>
            <a:ext cx="13053536" cy="639842"/>
          </a:xfrm>
          <a:prstGeom prst="rect">
            <a:avLst/>
          </a:prstGeom>
          <a:solidFill>
            <a:srgbClr val="FFFFFF">
              <a:alpha val="4000"/>
            </a:srgbClr>
          </a:solidFill>
          <a:ln/>
        </p:spPr>
      </p:sp>
      <p:sp>
        <p:nvSpPr>
          <p:cNvPr id="5" name="Text 3"/>
          <p:cNvSpPr/>
          <p:nvPr/>
        </p:nvSpPr>
        <p:spPr>
          <a:xfrm>
            <a:off x="1011555" y="1976795"/>
            <a:ext cx="4118848" cy="356949"/>
          </a:xfrm>
          <a:prstGeom prst="rect">
            <a:avLst/>
          </a:prstGeom>
          <a:noFill/>
          <a:ln/>
        </p:spPr>
        <p:txBody>
          <a:bodyPr wrap="none" lIns="0" tIns="0" rIns="0" bIns="0" rtlCol="0" anchor="t"/>
          <a:lstStyle/>
          <a:p>
            <a:pPr marL="0" indent="0" algn="l">
              <a:lnSpc>
                <a:spcPts val="2800"/>
              </a:lnSpc>
              <a:buNone/>
            </a:pPr>
            <a:r>
              <a:rPr lang="en-US" sz="1750" b="1" dirty="0">
                <a:solidFill>
                  <a:srgbClr val="272525"/>
                </a:solidFill>
                <a:latin typeface="Inter" pitchFamily="34" charset="0"/>
                <a:ea typeface="Inter" pitchFamily="34" charset="-122"/>
                <a:cs typeface="Inter" pitchFamily="34" charset="-120"/>
              </a:rPr>
              <a:t>Module</a:t>
            </a:r>
            <a:endParaRPr lang="en-US" sz="1750" dirty="0"/>
          </a:p>
        </p:txBody>
      </p:sp>
      <p:sp>
        <p:nvSpPr>
          <p:cNvPr id="6" name="Text 4"/>
          <p:cNvSpPr/>
          <p:nvPr/>
        </p:nvSpPr>
        <p:spPr>
          <a:xfrm>
            <a:off x="5584031" y="1976795"/>
            <a:ext cx="8034933" cy="356949"/>
          </a:xfrm>
          <a:prstGeom prst="rect">
            <a:avLst/>
          </a:prstGeom>
          <a:noFill/>
          <a:ln/>
        </p:spPr>
        <p:txBody>
          <a:bodyPr wrap="none" lIns="0" tIns="0" rIns="0" bIns="0" rtlCol="0" anchor="t"/>
          <a:lstStyle/>
          <a:p>
            <a:pPr marL="0" indent="0" algn="l">
              <a:lnSpc>
                <a:spcPts val="2800"/>
              </a:lnSpc>
              <a:buNone/>
            </a:pPr>
            <a:r>
              <a:rPr lang="en-US" sz="1750" b="1" dirty="0">
                <a:solidFill>
                  <a:srgbClr val="272525"/>
                </a:solidFill>
                <a:latin typeface="Inter" pitchFamily="34" charset="0"/>
                <a:ea typeface="Inter" pitchFamily="34" charset="-122"/>
                <a:cs typeface="Inter" pitchFamily="34" charset="-120"/>
              </a:rPr>
              <a:t>Core Functionality</a:t>
            </a:r>
            <a:endParaRPr lang="en-US" sz="1750" dirty="0"/>
          </a:p>
        </p:txBody>
      </p:sp>
      <p:sp>
        <p:nvSpPr>
          <p:cNvPr id="7" name="Shape 5"/>
          <p:cNvSpPr/>
          <p:nvPr/>
        </p:nvSpPr>
        <p:spPr>
          <a:xfrm>
            <a:off x="788432" y="2475190"/>
            <a:ext cx="13053536" cy="1710690"/>
          </a:xfrm>
          <a:prstGeom prst="rect">
            <a:avLst/>
          </a:prstGeom>
          <a:solidFill>
            <a:srgbClr val="000000">
              <a:alpha val="4000"/>
            </a:srgbClr>
          </a:solidFill>
          <a:ln/>
        </p:spPr>
      </p:sp>
      <p:sp>
        <p:nvSpPr>
          <p:cNvPr id="8" name="Text 6"/>
          <p:cNvSpPr/>
          <p:nvPr/>
        </p:nvSpPr>
        <p:spPr>
          <a:xfrm>
            <a:off x="1011555" y="2616637"/>
            <a:ext cx="4118848" cy="356949"/>
          </a:xfrm>
          <a:prstGeom prst="rect">
            <a:avLst/>
          </a:prstGeom>
          <a:noFill/>
          <a:ln/>
        </p:spPr>
        <p:txBody>
          <a:bodyPr wrap="none" lIns="0" tIns="0" rIns="0" bIns="0" rtlCol="0" anchor="t"/>
          <a:lstStyle/>
          <a:p>
            <a:pPr marL="0" indent="0" algn="l">
              <a:lnSpc>
                <a:spcPts val="2800"/>
              </a:lnSpc>
              <a:buNone/>
            </a:pPr>
            <a:r>
              <a:rPr lang="en-US" sz="1750" b="1" dirty="0">
                <a:solidFill>
                  <a:srgbClr val="272525"/>
                </a:solidFill>
                <a:latin typeface="Inter" pitchFamily="34" charset="0"/>
                <a:ea typeface="Inter" pitchFamily="34" charset="-122"/>
                <a:cs typeface="Inter" pitchFamily="34" charset="-120"/>
              </a:rPr>
              <a:t>Price Prediction</a:t>
            </a:r>
            <a:endParaRPr lang="en-US" sz="1750" dirty="0"/>
          </a:p>
        </p:txBody>
      </p:sp>
      <p:sp>
        <p:nvSpPr>
          <p:cNvPr id="9" name="Text 7"/>
          <p:cNvSpPr/>
          <p:nvPr/>
        </p:nvSpPr>
        <p:spPr>
          <a:xfrm>
            <a:off x="5584031" y="2616637"/>
            <a:ext cx="8034933" cy="1427798"/>
          </a:xfrm>
          <a:prstGeom prst="rect">
            <a:avLst/>
          </a:prstGeom>
          <a:noFill/>
          <a:ln/>
        </p:spPr>
        <p:txBody>
          <a:bodyPr wrap="square" lIns="0" tIns="0" rIns="0" bIns="0" rtlCol="0" anchor="t"/>
          <a:lstStyle/>
          <a:p>
            <a:pPr marL="0" indent="0" algn="l">
              <a:lnSpc>
                <a:spcPts val="2800"/>
              </a:lnSpc>
              <a:buNone/>
            </a:pPr>
            <a:r>
              <a:rPr lang="en-US" sz="1750" dirty="0">
                <a:solidFill>
                  <a:srgbClr val="272525"/>
                </a:solidFill>
                <a:latin typeface="Inter" pitchFamily="34" charset="0"/>
                <a:ea typeface="Inter" pitchFamily="34" charset="-122"/>
                <a:cs typeface="Inter" pitchFamily="34" charset="-120"/>
              </a:rPr>
              <a:t>Employs advanced machine learning regression models (Linear Regression, Random Forest, XGBoost) to forecast property prices based on features like location, size, amenities, and market conditions. Delivers accurate price estimates for user-specified property characteristics.</a:t>
            </a:r>
            <a:endParaRPr lang="en-US" sz="1750" dirty="0"/>
          </a:p>
        </p:txBody>
      </p:sp>
      <p:sp>
        <p:nvSpPr>
          <p:cNvPr id="10" name="Shape 8"/>
          <p:cNvSpPr/>
          <p:nvPr/>
        </p:nvSpPr>
        <p:spPr>
          <a:xfrm>
            <a:off x="788432" y="4185880"/>
            <a:ext cx="13053536" cy="1710690"/>
          </a:xfrm>
          <a:prstGeom prst="rect">
            <a:avLst/>
          </a:prstGeom>
          <a:solidFill>
            <a:srgbClr val="FFFFFF">
              <a:alpha val="4000"/>
            </a:srgbClr>
          </a:solidFill>
          <a:ln/>
        </p:spPr>
      </p:sp>
      <p:sp>
        <p:nvSpPr>
          <p:cNvPr id="11" name="Text 9"/>
          <p:cNvSpPr/>
          <p:nvPr/>
        </p:nvSpPr>
        <p:spPr>
          <a:xfrm>
            <a:off x="1011555" y="4327327"/>
            <a:ext cx="4118848" cy="356949"/>
          </a:xfrm>
          <a:prstGeom prst="rect">
            <a:avLst/>
          </a:prstGeom>
          <a:noFill/>
          <a:ln/>
        </p:spPr>
        <p:txBody>
          <a:bodyPr wrap="none" lIns="0" tIns="0" rIns="0" bIns="0" rtlCol="0" anchor="t"/>
          <a:lstStyle/>
          <a:p>
            <a:pPr marL="0" indent="0" algn="l">
              <a:lnSpc>
                <a:spcPts val="2800"/>
              </a:lnSpc>
              <a:buNone/>
            </a:pPr>
            <a:r>
              <a:rPr lang="en-US" sz="1750" b="1" dirty="0">
                <a:solidFill>
                  <a:srgbClr val="272525"/>
                </a:solidFill>
                <a:latin typeface="Inter" pitchFamily="34" charset="0"/>
                <a:ea typeface="Inter" pitchFamily="34" charset="-122"/>
                <a:cs typeface="Inter" pitchFamily="34" charset="-120"/>
              </a:rPr>
              <a:t>Analytics &amp; Visualization</a:t>
            </a:r>
            <a:endParaRPr lang="en-US" sz="1750" dirty="0"/>
          </a:p>
        </p:txBody>
      </p:sp>
      <p:sp>
        <p:nvSpPr>
          <p:cNvPr id="12" name="Text 10"/>
          <p:cNvSpPr/>
          <p:nvPr/>
        </p:nvSpPr>
        <p:spPr>
          <a:xfrm>
            <a:off x="5584031" y="4327327"/>
            <a:ext cx="8034933" cy="1427798"/>
          </a:xfrm>
          <a:prstGeom prst="rect">
            <a:avLst/>
          </a:prstGeom>
          <a:noFill/>
          <a:ln/>
        </p:spPr>
        <p:txBody>
          <a:bodyPr wrap="square" lIns="0" tIns="0" rIns="0" bIns="0" rtlCol="0" anchor="t"/>
          <a:lstStyle/>
          <a:p>
            <a:pPr marL="0" indent="0" algn="l">
              <a:lnSpc>
                <a:spcPts val="2800"/>
              </a:lnSpc>
              <a:buNone/>
            </a:pPr>
            <a:r>
              <a:rPr lang="en-US" sz="1750" dirty="0">
                <a:solidFill>
                  <a:srgbClr val="272525"/>
                </a:solidFill>
                <a:latin typeface="Inter" pitchFamily="34" charset="0"/>
                <a:ea typeface="Inter" pitchFamily="34" charset="-122"/>
                <a:cs typeface="Inter" pitchFamily="34" charset="-120"/>
              </a:rPr>
              <a:t>Provides interactive dashboards displaying market trends, price distributions, geographic heatmaps, and comparative insights. Users filter data by city, furnishing type, bedrooms, and other criteria using Plotly, Matplotlib, and Seaborn visualizations.</a:t>
            </a:r>
            <a:endParaRPr lang="en-US" sz="1750" dirty="0"/>
          </a:p>
        </p:txBody>
      </p:sp>
      <p:sp>
        <p:nvSpPr>
          <p:cNvPr id="13" name="Shape 11"/>
          <p:cNvSpPr/>
          <p:nvPr/>
        </p:nvSpPr>
        <p:spPr>
          <a:xfrm>
            <a:off x="788432" y="5896570"/>
            <a:ext cx="13053536" cy="1710690"/>
          </a:xfrm>
          <a:prstGeom prst="rect">
            <a:avLst/>
          </a:prstGeom>
          <a:solidFill>
            <a:srgbClr val="000000">
              <a:alpha val="4000"/>
            </a:srgbClr>
          </a:solidFill>
          <a:ln/>
        </p:spPr>
      </p:sp>
      <p:sp>
        <p:nvSpPr>
          <p:cNvPr id="14" name="Text 12"/>
          <p:cNvSpPr/>
          <p:nvPr/>
        </p:nvSpPr>
        <p:spPr>
          <a:xfrm>
            <a:off x="1011555" y="6038017"/>
            <a:ext cx="4118848" cy="356949"/>
          </a:xfrm>
          <a:prstGeom prst="rect">
            <a:avLst/>
          </a:prstGeom>
          <a:noFill/>
          <a:ln/>
        </p:spPr>
        <p:txBody>
          <a:bodyPr wrap="none" lIns="0" tIns="0" rIns="0" bIns="0" rtlCol="0" anchor="t"/>
          <a:lstStyle/>
          <a:p>
            <a:pPr marL="0" indent="0" algn="l">
              <a:lnSpc>
                <a:spcPts val="2800"/>
              </a:lnSpc>
              <a:buNone/>
            </a:pPr>
            <a:r>
              <a:rPr lang="en-US" sz="1750" b="1" dirty="0">
                <a:solidFill>
                  <a:srgbClr val="272525"/>
                </a:solidFill>
                <a:latin typeface="Inter" pitchFamily="34" charset="0"/>
                <a:ea typeface="Inter" pitchFamily="34" charset="-122"/>
                <a:cs typeface="Inter" pitchFamily="34" charset="-120"/>
              </a:rPr>
              <a:t>Recommendation System</a:t>
            </a:r>
            <a:endParaRPr lang="en-US" sz="1750" dirty="0"/>
          </a:p>
        </p:txBody>
      </p:sp>
      <p:sp>
        <p:nvSpPr>
          <p:cNvPr id="15" name="Text 13"/>
          <p:cNvSpPr/>
          <p:nvPr/>
        </p:nvSpPr>
        <p:spPr>
          <a:xfrm>
            <a:off x="5584031" y="6038017"/>
            <a:ext cx="8034933" cy="1427798"/>
          </a:xfrm>
          <a:prstGeom prst="rect">
            <a:avLst/>
          </a:prstGeom>
          <a:noFill/>
          <a:ln/>
        </p:spPr>
        <p:txBody>
          <a:bodyPr wrap="square" lIns="0" tIns="0" rIns="0" bIns="0" rtlCol="0" anchor="t"/>
          <a:lstStyle/>
          <a:p>
            <a:pPr marL="0" indent="0" algn="l">
              <a:lnSpc>
                <a:spcPts val="2800"/>
              </a:lnSpc>
              <a:buNone/>
            </a:pPr>
            <a:r>
              <a:rPr lang="en-US" sz="1750" dirty="0">
                <a:solidFill>
                  <a:srgbClr val="272525"/>
                </a:solidFill>
                <a:latin typeface="Inter" pitchFamily="34" charset="0"/>
                <a:ea typeface="Inter" pitchFamily="34" charset="-122"/>
                <a:cs typeface="Inter" pitchFamily="34" charset="-120"/>
              </a:rPr>
              <a:t>Uses cosine similarity and adjustable weighted algorithms to match properties with buyer preferences. Suggests best-fit apartments based on pricing, location proximity, amenities, and includes a "Find Nearby Apartments" feature for location-based discovery.</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16279" y="562689"/>
            <a:ext cx="13378861" cy="703421"/>
          </a:xfrm>
          <a:prstGeom prst="rect">
            <a:avLst/>
          </a:prstGeom>
          <a:noFill/>
          <a:ln/>
        </p:spPr>
        <p:txBody>
          <a:bodyPr wrap="none" lIns="0" tIns="0" rIns="0" bIns="0" rtlCol="0" anchor="t"/>
          <a:lstStyle/>
          <a:p>
            <a:pPr marL="0" indent="0" algn="l">
              <a:lnSpc>
                <a:spcPts val="5500"/>
              </a:lnSpc>
              <a:buNone/>
            </a:pPr>
            <a:r>
              <a:rPr lang="en-US" sz="4400" b="1" dirty="0">
                <a:solidFill>
                  <a:srgbClr val="F95F88"/>
                </a:solidFill>
                <a:latin typeface="Calisto MT" panose="02040603050505030304" pitchFamily="18" charset="0"/>
                <a:ea typeface="Petrona Bold" pitchFamily="34" charset="-122"/>
                <a:cs typeface="Petrona Bold" pitchFamily="34" charset="-120"/>
              </a:rPr>
              <a:t>Module 1: Property Price Prediction</a:t>
            </a:r>
            <a:endParaRPr lang="en-US" sz="4400" dirty="0">
              <a:latin typeface="Calisto MT" panose="02040603050505030304" pitchFamily="18" charset="0"/>
            </a:endParaRPr>
          </a:p>
        </p:txBody>
      </p:sp>
      <p:sp>
        <p:nvSpPr>
          <p:cNvPr id="3" name="Text 1"/>
          <p:cNvSpPr/>
          <p:nvPr/>
        </p:nvSpPr>
        <p:spPr>
          <a:xfrm>
            <a:off x="716280" y="1777603"/>
            <a:ext cx="5907544" cy="351592"/>
          </a:xfrm>
          <a:prstGeom prst="rect">
            <a:avLst/>
          </a:prstGeom>
          <a:noFill/>
          <a:ln/>
        </p:spPr>
        <p:txBody>
          <a:bodyPr wrap="none" lIns="0" tIns="0" rIns="0" bIns="0" rtlCol="0" anchor="t"/>
          <a:lstStyle/>
          <a:p>
            <a:pPr marL="0" indent="0" algn="l">
              <a:lnSpc>
                <a:spcPts val="2750"/>
              </a:lnSpc>
              <a:buNone/>
            </a:pPr>
            <a:r>
              <a:rPr lang="en-US" sz="2200" b="1" dirty="0">
                <a:solidFill>
                  <a:srgbClr val="F95F88"/>
                </a:solidFill>
                <a:latin typeface="Calisto MT" panose="02040603050505030304" pitchFamily="18" charset="0"/>
                <a:ea typeface="Petrona Bold" pitchFamily="34" charset="-122"/>
                <a:cs typeface="Petrona Bold" pitchFamily="34" charset="-120"/>
              </a:rPr>
              <a:t>Machine Learning Models</a:t>
            </a:r>
            <a:endParaRPr lang="en-US" sz="2200" dirty="0">
              <a:latin typeface="Calisto MT" panose="02040603050505030304" pitchFamily="18" charset="0"/>
            </a:endParaRPr>
          </a:p>
        </p:txBody>
      </p:sp>
      <p:sp>
        <p:nvSpPr>
          <p:cNvPr id="4" name="Text 2"/>
          <p:cNvSpPr/>
          <p:nvPr/>
        </p:nvSpPr>
        <p:spPr>
          <a:xfrm>
            <a:off x="716280" y="2333744"/>
            <a:ext cx="6349246" cy="654844"/>
          </a:xfrm>
          <a:prstGeom prst="rect">
            <a:avLst/>
          </a:prstGeom>
          <a:noFill/>
          <a:ln/>
        </p:spPr>
        <p:txBody>
          <a:bodyPr wrap="square" lIns="0" tIns="0" rIns="0" bIns="0" rtlCol="0" anchor="t"/>
          <a:lstStyle/>
          <a:p>
            <a:pPr marL="342900" indent="-342900" algn="l">
              <a:lnSpc>
                <a:spcPts val="2550"/>
              </a:lnSpc>
              <a:buSzPct val="100000"/>
              <a:buChar char="•"/>
            </a:pPr>
            <a:r>
              <a:rPr lang="en-US" sz="1600" b="1" dirty="0">
                <a:solidFill>
                  <a:srgbClr val="272525"/>
                </a:solidFill>
                <a:latin typeface="Inter" pitchFamily="34" charset="0"/>
                <a:ea typeface="Inter" pitchFamily="34" charset="-122"/>
                <a:cs typeface="Inter" pitchFamily="34" charset="-120"/>
              </a:rPr>
              <a:t>Linear Regression:</a:t>
            </a:r>
            <a:r>
              <a:rPr lang="en-US" sz="1600" dirty="0">
                <a:solidFill>
                  <a:srgbClr val="272525"/>
                </a:solidFill>
                <a:latin typeface="Inter" pitchFamily="34" charset="0"/>
                <a:ea typeface="Inter" pitchFamily="34" charset="-122"/>
                <a:cs typeface="Inter" pitchFamily="34" charset="-120"/>
              </a:rPr>
              <a:t> Establishes baseline relationships between features and prices.</a:t>
            </a:r>
            <a:endParaRPr lang="en-US" sz="1600" dirty="0"/>
          </a:p>
        </p:txBody>
      </p:sp>
      <p:sp>
        <p:nvSpPr>
          <p:cNvPr id="5" name="Text 3"/>
          <p:cNvSpPr/>
          <p:nvPr/>
        </p:nvSpPr>
        <p:spPr>
          <a:xfrm>
            <a:off x="716280" y="3060144"/>
            <a:ext cx="6349246" cy="654844"/>
          </a:xfrm>
          <a:prstGeom prst="rect">
            <a:avLst/>
          </a:prstGeom>
          <a:noFill/>
          <a:ln/>
        </p:spPr>
        <p:txBody>
          <a:bodyPr wrap="square" lIns="0" tIns="0" rIns="0" bIns="0" rtlCol="0" anchor="t"/>
          <a:lstStyle/>
          <a:p>
            <a:pPr marL="342900" indent="-342900" algn="l">
              <a:lnSpc>
                <a:spcPts val="2550"/>
              </a:lnSpc>
              <a:buSzPct val="100000"/>
              <a:buChar char="•"/>
            </a:pPr>
            <a:r>
              <a:rPr lang="en-US" sz="1600" b="1" dirty="0">
                <a:solidFill>
                  <a:srgbClr val="272525"/>
                </a:solidFill>
                <a:latin typeface="Inter" pitchFamily="34" charset="0"/>
                <a:ea typeface="Inter" pitchFamily="34" charset="-122"/>
                <a:cs typeface="Inter" pitchFamily="34" charset="-120"/>
              </a:rPr>
              <a:t>Random Forest:</a:t>
            </a:r>
            <a:r>
              <a:rPr lang="en-US" sz="1600" dirty="0">
                <a:solidFill>
                  <a:srgbClr val="272525"/>
                </a:solidFill>
                <a:latin typeface="Inter" pitchFamily="34" charset="0"/>
                <a:ea typeface="Inter" pitchFamily="34" charset="-122"/>
                <a:cs typeface="Inter" pitchFamily="34" charset="-120"/>
              </a:rPr>
              <a:t> Captures non-linear patterns and feature interactions effectively.</a:t>
            </a:r>
            <a:endParaRPr lang="en-US" sz="1600" dirty="0"/>
          </a:p>
        </p:txBody>
      </p:sp>
      <p:sp>
        <p:nvSpPr>
          <p:cNvPr id="6" name="Text 4"/>
          <p:cNvSpPr/>
          <p:nvPr/>
        </p:nvSpPr>
        <p:spPr>
          <a:xfrm>
            <a:off x="716280" y="3786545"/>
            <a:ext cx="6349246" cy="654844"/>
          </a:xfrm>
          <a:prstGeom prst="rect">
            <a:avLst/>
          </a:prstGeom>
          <a:noFill/>
          <a:ln/>
        </p:spPr>
        <p:txBody>
          <a:bodyPr wrap="square" lIns="0" tIns="0" rIns="0" bIns="0" rtlCol="0" anchor="t"/>
          <a:lstStyle/>
          <a:p>
            <a:pPr marL="342900" indent="-342900" algn="l">
              <a:lnSpc>
                <a:spcPts val="2550"/>
              </a:lnSpc>
              <a:buSzPct val="100000"/>
              <a:buChar char="•"/>
            </a:pPr>
            <a:r>
              <a:rPr lang="en-US" sz="1600" b="1" dirty="0">
                <a:solidFill>
                  <a:srgbClr val="272525"/>
                </a:solidFill>
                <a:latin typeface="Inter" pitchFamily="34" charset="0"/>
                <a:ea typeface="Inter" pitchFamily="34" charset="-122"/>
                <a:cs typeface="Inter" pitchFamily="34" charset="-120"/>
              </a:rPr>
              <a:t>XGBoost:</a:t>
            </a:r>
            <a:r>
              <a:rPr lang="en-US" sz="1600" dirty="0">
                <a:solidFill>
                  <a:srgbClr val="272525"/>
                </a:solidFill>
                <a:latin typeface="Inter" pitchFamily="34" charset="0"/>
                <a:ea typeface="Inter" pitchFamily="34" charset="-122"/>
                <a:cs typeface="Inter" pitchFamily="34" charset="-120"/>
              </a:rPr>
              <a:t> Delivers superior predictive accuracy through gradient boosting optimization.</a:t>
            </a:r>
            <a:endParaRPr lang="en-US" sz="1600" dirty="0"/>
          </a:p>
        </p:txBody>
      </p:sp>
      <p:sp>
        <p:nvSpPr>
          <p:cNvPr id="7" name="Text 5"/>
          <p:cNvSpPr/>
          <p:nvPr/>
        </p:nvSpPr>
        <p:spPr>
          <a:xfrm>
            <a:off x="716280" y="4645938"/>
            <a:ext cx="6119418" cy="351592"/>
          </a:xfrm>
          <a:prstGeom prst="rect">
            <a:avLst/>
          </a:prstGeom>
          <a:noFill/>
          <a:ln/>
        </p:spPr>
        <p:txBody>
          <a:bodyPr wrap="none" lIns="0" tIns="0" rIns="0" bIns="0" rtlCol="0" anchor="t"/>
          <a:lstStyle/>
          <a:p>
            <a:pPr marL="0" indent="0" algn="l">
              <a:lnSpc>
                <a:spcPts val="2750"/>
              </a:lnSpc>
              <a:buNone/>
            </a:pPr>
            <a:r>
              <a:rPr lang="en-US" sz="2200" b="1" dirty="0">
                <a:solidFill>
                  <a:srgbClr val="F95F88"/>
                </a:solidFill>
                <a:latin typeface="Calisto MT" panose="02040603050505030304" pitchFamily="18" charset="0"/>
                <a:ea typeface="Petrona Bold" pitchFamily="34" charset="-122"/>
                <a:cs typeface="Petrona Bold" pitchFamily="34" charset="-120"/>
              </a:rPr>
              <a:t>Performance Metrics</a:t>
            </a:r>
            <a:endParaRPr lang="en-US" sz="2200" dirty="0">
              <a:latin typeface="Calisto MT" panose="02040603050505030304" pitchFamily="18" charset="0"/>
            </a:endParaRPr>
          </a:p>
        </p:txBody>
      </p:sp>
      <p:sp>
        <p:nvSpPr>
          <p:cNvPr id="8" name="Text 6"/>
          <p:cNvSpPr/>
          <p:nvPr/>
        </p:nvSpPr>
        <p:spPr>
          <a:xfrm>
            <a:off x="716280" y="5202079"/>
            <a:ext cx="6349246" cy="327422"/>
          </a:xfrm>
          <a:prstGeom prst="rect">
            <a:avLst/>
          </a:prstGeom>
          <a:noFill/>
          <a:ln/>
        </p:spPr>
        <p:txBody>
          <a:bodyPr wrap="none" lIns="0" tIns="0" rIns="0" bIns="0" rtlCol="0" anchor="t"/>
          <a:lstStyle/>
          <a:p>
            <a:pPr marL="342900" indent="-342900" algn="l">
              <a:lnSpc>
                <a:spcPts val="2550"/>
              </a:lnSpc>
              <a:buSzPct val="100000"/>
              <a:buChar char="•"/>
            </a:pPr>
            <a:r>
              <a:rPr lang="en-US" sz="1600" b="1" dirty="0">
                <a:solidFill>
                  <a:srgbClr val="272525"/>
                </a:solidFill>
                <a:latin typeface="Inter" pitchFamily="34" charset="0"/>
                <a:ea typeface="Inter" pitchFamily="34" charset="-122"/>
                <a:cs typeface="Inter" pitchFamily="34" charset="-120"/>
              </a:rPr>
              <a:t>R² Score:</a:t>
            </a:r>
            <a:r>
              <a:rPr lang="en-US" sz="1600" dirty="0">
                <a:solidFill>
                  <a:srgbClr val="272525"/>
                </a:solidFill>
                <a:latin typeface="Inter" pitchFamily="34" charset="0"/>
                <a:ea typeface="Inter" pitchFamily="34" charset="-122"/>
                <a:cs typeface="Inter" pitchFamily="34" charset="-120"/>
              </a:rPr>
              <a:t> Measures explained variance in predictions.</a:t>
            </a:r>
            <a:endParaRPr lang="en-US" sz="1600" dirty="0"/>
          </a:p>
        </p:txBody>
      </p:sp>
      <p:sp>
        <p:nvSpPr>
          <p:cNvPr id="9" name="Text 7"/>
          <p:cNvSpPr/>
          <p:nvPr/>
        </p:nvSpPr>
        <p:spPr>
          <a:xfrm>
            <a:off x="716280" y="5601057"/>
            <a:ext cx="6349246" cy="327422"/>
          </a:xfrm>
          <a:prstGeom prst="rect">
            <a:avLst/>
          </a:prstGeom>
          <a:noFill/>
          <a:ln/>
        </p:spPr>
        <p:txBody>
          <a:bodyPr wrap="none" lIns="0" tIns="0" rIns="0" bIns="0" rtlCol="0" anchor="t"/>
          <a:lstStyle/>
          <a:p>
            <a:pPr marL="342900" indent="-342900" algn="l">
              <a:lnSpc>
                <a:spcPts val="2550"/>
              </a:lnSpc>
              <a:buSzPct val="100000"/>
              <a:buChar char="•"/>
            </a:pPr>
            <a:r>
              <a:rPr lang="en-US" sz="1600" b="1" dirty="0">
                <a:solidFill>
                  <a:srgbClr val="272525"/>
                </a:solidFill>
                <a:latin typeface="Inter" pitchFamily="34" charset="0"/>
                <a:ea typeface="Inter" pitchFamily="34" charset="-122"/>
                <a:cs typeface="Inter" pitchFamily="34" charset="-120"/>
              </a:rPr>
              <a:t>RMSE:</a:t>
            </a:r>
            <a:r>
              <a:rPr lang="en-US" sz="1600" dirty="0">
                <a:solidFill>
                  <a:srgbClr val="272525"/>
                </a:solidFill>
                <a:latin typeface="Inter" pitchFamily="34" charset="0"/>
                <a:ea typeface="Inter" pitchFamily="34" charset="-122"/>
                <a:cs typeface="Inter" pitchFamily="34" charset="-120"/>
              </a:rPr>
              <a:t> Quantifies average prediction error in currency units.</a:t>
            </a:r>
            <a:endParaRPr lang="en-US" sz="1600" dirty="0"/>
          </a:p>
        </p:txBody>
      </p:sp>
      <p:pic>
        <p:nvPicPr>
          <p:cNvPr id="10" name="Image 0" descr="preencoded.png"/>
          <p:cNvPicPr>
            <a:picLocks noChangeAspect="1"/>
          </p:cNvPicPr>
          <p:nvPr/>
        </p:nvPicPr>
        <p:blipFill>
          <a:blip r:embed="rId3"/>
          <a:stretch>
            <a:fillRect/>
          </a:stretch>
        </p:blipFill>
        <p:spPr>
          <a:xfrm>
            <a:off x="7572494" y="1803202"/>
            <a:ext cx="6349246" cy="634924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594967"/>
          </a:xfrm>
          <a:prstGeom prst="rect">
            <a:avLst/>
          </a:prstGeom>
        </p:spPr>
      </p:pic>
      <p:sp>
        <p:nvSpPr>
          <p:cNvPr id="3" name="Text 0"/>
          <p:cNvSpPr/>
          <p:nvPr/>
        </p:nvSpPr>
        <p:spPr>
          <a:xfrm>
            <a:off x="726519" y="3165872"/>
            <a:ext cx="13324018" cy="713542"/>
          </a:xfrm>
          <a:prstGeom prst="rect">
            <a:avLst/>
          </a:prstGeom>
          <a:noFill/>
          <a:ln/>
        </p:spPr>
        <p:txBody>
          <a:bodyPr wrap="none" lIns="0" tIns="0" rIns="0" bIns="0" rtlCol="0" anchor="t"/>
          <a:lstStyle/>
          <a:p>
            <a:pPr marL="0" indent="0" algn="l">
              <a:lnSpc>
                <a:spcPts val="5600"/>
              </a:lnSpc>
              <a:buNone/>
            </a:pPr>
            <a:r>
              <a:rPr lang="en-US" sz="4450" b="1" dirty="0">
                <a:solidFill>
                  <a:srgbClr val="F95F88"/>
                </a:solidFill>
                <a:latin typeface="Calisto MT" panose="02040603050505030304" pitchFamily="18" charset="0"/>
                <a:ea typeface="Petrona Bold" pitchFamily="34" charset="-122"/>
                <a:cs typeface="Petrona Bold" pitchFamily="34" charset="-120"/>
              </a:rPr>
              <a:t>Module 2: Analytics &amp; Visualization</a:t>
            </a:r>
            <a:endParaRPr lang="en-US" sz="4450" dirty="0">
              <a:latin typeface="Calisto MT" panose="02040603050505030304" pitchFamily="18" charset="0"/>
            </a:endParaRPr>
          </a:p>
        </p:txBody>
      </p:sp>
      <p:sp>
        <p:nvSpPr>
          <p:cNvPr id="4" name="Text 1"/>
          <p:cNvSpPr/>
          <p:nvPr/>
        </p:nvSpPr>
        <p:spPr>
          <a:xfrm>
            <a:off x="726519" y="4190762"/>
            <a:ext cx="13177361" cy="996553"/>
          </a:xfrm>
          <a:prstGeom prst="rect">
            <a:avLst/>
          </a:prstGeom>
          <a:noFill/>
          <a:ln/>
        </p:spPr>
        <p:txBody>
          <a:bodyPr wrap="square" lIns="0" tIns="0" rIns="0" bIns="0" rtlCol="0" anchor="t"/>
          <a:lstStyle/>
          <a:p>
            <a:pPr marL="0" indent="0" algn="l">
              <a:lnSpc>
                <a:spcPts val="2600"/>
              </a:lnSpc>
              <a:buNone/>
            </a:pPr>
            <a:r>
              <a:rPr lang="en-US" sz="1600" b="1" dirty="0">
                <a:solidFill>
                  <a:srgbClr val="272525"/>
                </a:solidFill>
                <a:latin typeface="Inter" pitchFamily="34" charset="0"/>
                <a:ea typeface="Inter" pitchFamily="34" charset="-122"/>
                <a:cs typeface="Inter" pitchFamily="34" charset="-120"/>
              </a:rPr>
              <a:t>Interactive Visualization Capabilities:</a:t>
            </a:r>
            <a:r>
              <a:rPr lang="en-US" sz="1600" dirty="0">
                <a:solidFill>
                  <a:srgbClr val="272525"/>
                </a:solidFill>
                <a:latin typeface="Inter" pitchFamily="34" charset="0"/>
                <a:ea typeface="Inter" pitchFamily="34" charset="-122"/>
                <a:cs typeface="Inter" pitchFamily="34" charset="-120"/>
              </a:rPr>
              <a:t> The analytics module presents comprehensive market insights through dynamic charts and graphs. Users explore price distributions across properties, analyze geographic patterns through location-based visualizations, and track market trends over time.</a:t>
            </a:r>
            <a:endParaRPr lang="en-US" sz="1600" dirty="0"/>
          </a:p>
        </p:txBody>
      </p:sp>
      <p:sp>
        <p:nvSpPr>
          <p:cNvPr id="5" name="Shape 2"/>
          <p:cNvSpPr/>
          <p:nvPr/>
        </p:nvSpPr>
        <p:spPr>
          <a:xfrm>
            <a:off x="726519" y="5420797"/>
            <a:ext cx="4254103" cy="2240399"/>
          </a:xfrm>
          <a:prstGeom prst="roundRect">
            <a:avLst>
              <a:gd name="adj" fmla="val 3892"/>
            </a:avLst>
          </a:prstGeom>
          <a:solidFill>
            <a:srgbClr val="E0D7F4"/>
          </a:solidFill>
          <a:ln w="7620">
            <a:solidFill>
              <a:srgbClr val="C6BDDA"/>
            </a:solidFill>
            <a:prstDash val="solid"/>
          </a:ln>
        </p:spPr>
      </p:sp>
      <p:sp>
        <p:nvSpPr>
          <p:cNvPr id="6" name="Text 3"/>
          <p:cNvSpPr/>
          <p:nvPr/>
        </p:nvSpPr>
        <p:spPr>
          <a:xfrm>
            <a:off x="941665" y="5635943"/>
            <a:ext cx="3931418" cy="356830"/>
          </a:xfrm>
          <a:prstGeom prst="rect">
            <a:avLst/>
          </a:prstGeom>
          <a:noFill/>
          <a:ln/>
        </p:spPr>
        <p:txBody>
          <a:bodyPr wrap="none" lIns="0" tIns="0" rIns="0" bIns="0" rtlCol="0" anchor="t"/>
          <a:lstStyle/>
          <a:p>
            <a:pPr marL="0" indent="0" algn="l">
              <a:lnSpc>
                <a:spcPts val="2800"/>
              </a:lnSpc>
              <a:buNone/>
            </a:pPr>
            <a:r>
              <a:rPr lang="en-US" sz="2200" b="1" dirty="0">
                <a:solidFill>
                  <a:srgbClr val="272525"/>
                </a:solidFill>
                <a:latin typeface="Calisto MT" panose="02040603050505030304" pitchFamily="18" charset="0"/>
                <a:ea typeface="Petrona Bold" pitchFamily="34" charset="-122"/>
                <a:cs typeface="Petrona Bold" pitchFamily="34" charset="-120"/>
              </a:rPr>
              <a:t>Smart Filtering</a:t>
            </a:r>
            <a:endParaRPr lang="en-US" sz="2200" dirty="0">
              <a:latin typeface="Calisto MT" panose="02040603050505030304" pitchFamily="18" charset="0"/>
            </a:endParaRPr>
          </a:p>
        </p:txBody>
      </p:sp>
      <p:sp>
        <p:nvSpPr>
          <p:cNvPr id="7" name="Text 4"/>
          <p:cNvSpPr/>
          <p:nvPr/>
        </p:nvSpPr>
        <p:spPr>
          <a:xfrm>
            <a:off x="941665" y="6117312"/>
            <a:ext cx="3823811" cy="1328737"/>
          </a:xfrm>
          <a:prstGeom prst="rect">
            <a:avLst/>
          </a:prstGeom>
          <a:noFill/>
          <a:ln/>
        </p:spPr>
        <p:txBody>
          <a:bodyPr wrap="squar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Filter properties by city, furnishing type, bedroom count, price range, and amenities to isolate relevant market segments.</a:t>
            </a:r>
            <a:endParaRPr lang="en-US" sz="1600" dirty="0"/>
          </a:p>
        </p:txBody>
      </p:sp>
      <p:sp>
        <p:nvSpPr>
          <p:cNvPr id="8" name="Shape 5"/>
          <p:cNvSpPr/>
          <p:nvPr/>
        </p:nvSpPr>
        <p:spPr>
          <a:xfrm>
            <a:off x="5188148" y="5420797"/>
            <a:ext cx="4254103" cy="2240399"/>
          </a:xfrm>
          <a:prstGeom prst="roundRect">
            <a:avLst>
              <a:gd name="adj" fmla="val 3892"/>
            </a:avLst>
          </a:prstGeom>
          <a:solidFill>
            <a:srgbClr val="E0D7F4"/>
          </a:solidFill>
          <a:ln w="7620">
            <a:solidFill>
              <a:srgbClr val="C6BDDA"/>
            </a:solidFill>
            <a:prstDash val="solid"/>
          </a:ln>
        </p:spPr>
      </p:sp>
      <p:sp>
        <p:nvSpPr>
          <p:cNvPr id="9" name="Text 6"/>
          <p:cNvSpPr/>
          <p:nvPr/>
        </p:nvSpPr>
        <p:spPr>
          <a:xfrm>
            <a:off x="5403294" y="5635943"/>
            <a:ext cx="4038957" cy="356830"/>
          </a:xfrm>
          <a:prstGeom prst="rect">
            <a:avLst/>
          </a:prstGeom>
          <a:noFill/>
          <a:ln/>
        </p:spPr>
        <p:txBody>
          <a:bodyPr wrap="none" lIns="0" tIns="0" rIns="0" bIns="0" rtlCol="0" anchor="t"/>
          <a:lstStyle/>
          <a:p>
            <a:pPr marL="0" indent="0" algn="l">
              <a:lnSpc>
                <a:spcPts val="2800"/>
              </a:lnSpc>
              <a:buNone/>
            </a:pPr>
            <a:r>
              <a:rPr lang="en-US" sz="2200" b="1" dirty="0">
                <a:solidFill>
                  <a:srgbClr val="272525"/>
                </a:solidFill>
                <a:latin typeface="Calisto MT" panose="02040603050505030304" pitchFamily="18" charset="0"/>
                <a:ea typeface="Petrona Bold" pitchFamily="34" charset="-122"/>
                <a:cs typeface="Petrona Bold" pitchFamily="34" charset="-120"/>
              </a:rPr>
              <a:t>Advanced Visualizations</a:t>
            </a:r>
            <a:endParaRPr lang="en-US" sz="2200" dirty="0">
              <a:latin typeface="Calisto MT" panose="02040603050505030304" pitchFamily="18" charset="0"/>
            </a:endParaRPr>
          </a:p>
        </p:txBody>
      </p:sp>
      <p:sp>
        <p:nvSpPr>
          <p:cNvPr id="10" name="Text 7"/>
          <p:cNvSpPr/>
          <p:nvPr/>
        </p:nvSpPr>
        <p:spPr>
          <a:xfrm>
            <a:off x="5403294" y="6117312"/>
            <a:ext cx="3823811" cy="996553"/>
          </a:xfrm>
          <a:prstGeom prst="rect">
            <a:avLst/>
          </a:prstGeom>
          <a:noFill/>
          <a:ln/>
        </p:spPr>
        <p:txBody>
          <a:bodyPr wrap="squar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Leverages Plotly for interactive charts, Matplotlib for statistical plots, and Seaborn for correlation heatmaps.</a:t>
            </a:r>
            <a:endParaRPr lang="en-US" sz="1600" dirty="0"/>
          </a:p>
        </p:txBody>
      </p:sp>
      <p:sp>
        <p:nvSpPr>
          <p:cNvPr id="11" name="Shape 8"/>
          <p:cNvSpPr/>
          <p:nvPr/>
        </p:nvSpPr>
        <p:spPr>
          <a:xfrm>
            <a:off x="9649778" y="5420797"/>
            <a:ext cx="4254103" cy="2240399"/>
          </a:xfrm>
          <a:prstGeom prst="roundRect">
            <a:avLst>
              <a:gd name="adj" fmla="val 3892"/>
            </a:avLst>
          </a:prstGeom>
          <a:solidFill>
            <a:srgbClr val="E0D7F4"/>
          </a:solidFill>
          <a:ln w="7620">
            <a:solidFill>
              <a:srgbClr val="C6BDDA"/>
            </a:solidFill>
            <a:prstDash val="solid"/>
          </a:ln>
        </p:spPr>
      </p:sp>
      <p:sp>
        <p:nvSpPr>
          <p:cNvPr id="12" name="Text 9"/>
          <p:cNvSpPr/>
          <p:nvPr/>
        </p:nvSpPr>
        <p:spPr>
          <a:xfrm>
            <a:off x="9864923" y="5635943"/>
            <a:ext cx="2854523" cy="356830"/>
          </a:xfrm>
          <a:prstGeom prst="rect">
            <a:avLst/>
          </a:prstGeom>
          <a:noFill/>
          <a:ln/>
        </p:spPr>
        <p:txBody>
          <a:bodyPr wrap="none" lIns="0" tIns="0" rIns="0" bIns="0" rtlCol="0" anchor="t"/>
          <a:lstStyle/>
          <a:p>
            <a:pPr marL="0" indent="0" algn="l">
              <a:lnSpc>
                <a:spcPts val="2800"/>
              </a:lnSpc>
              <a:buNone/>
            </a:pPr>
            <a:r>
              <a:rPr lang="en-US" sz="2200" b="1" dirty="0">
                <a:solidFill>
                  <a:srgbClr val="272525"/>
                </a:solidFill>
                <a:latin typeface="Calisto MT" panose="02040603050505030304" pitchFamily="18" charset="0"/>
                <a:ea typeface="Petrona Bold" pitchFamily="34" charset="-122"/>
                <a:cs typeface="Petrona Bold" pitchFamily="34" charset="-120"/>
              </a:rPr>
              <a:t>Market Intelligence</a:t>
            </a:r>
            <a:endParaRPr lang="en-US" sz="2200" dirty="0">
              <a:latin typeface="Calisto MT" panose="02040603050505030304" pitchFamily="18" charset="0"/>
            </a:endParaRPr>
          </a:p>
        </p:txBody>
      </p:sp>
      <p:sp>
        <p:nvSpPr>
          <p:cNvPr id="13" name="Text 10"/>
          <p:cNvSpPr/>
          <p:nvPr/>
        </p:nvSpPr>
        <p:spPr>
          <a:xfrm>
            <a:off x="9864923" y="6117312"/>
            <a:ext cx="3823811" cy="996553"/>
          </a:xfrm>
          <a:prstGeom prst="rect">
            <a:avLst/>
          </a:prstGeom>
          <a:noFill/>
          <a:ln/>
        </p:spPr>
        <p:txBody>
          <a:bodyPr wrap="squar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Reveals price drivers, neighborhood comparisons, and emerging trends to inform strategic property decisions.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521506"/>
          </a:xfrm>
          <a:prstGeom prst="rect">
            <a:avLst/>
          </a:prstGeom>
        </p:spPr>
      </p:pic>
      <p:sp>
        <p:nvSpPr>
          <p:cNvPr id="3" name="Text 0"/>
          <p:cNvSpPr/>
          <p:nvPr/>
        </p:nvSpPr>
        <p:spPr>
          <a:xfrm>
            <a:off x="705922" y="3288149"/>
            <a:ext cx="13489580" cy="693301"/>
          </a:xfrm>
          <a:prstGeom prst="rect">
            <a:avLst/>
          </a:prstGeom>
          <a:noFill/>
          <a:ln/>
        </p:spPr>
        <p:txBody>
          <a:bodyPr wrap="none" lIns="0" tIns="0" rIns="0" bIns="0" rtlCol="0" anchor="t"/>
          <a:lstStyle/>
          <a:p>
            <a:pPr marL="0" indent="0" algn="l">
              <a:lnSpc>
                <a:spcPts val="5450"/>
              </a:lnSpc>
              <a:buNone/>
            </a:pPr>
            <a:r>
              <a:rPr lang="en-US" sz="4350" b="1" dirty="0">
                <a:solidFill>
                  <a:srgbClr val="F95F88"/>
                </a:solidFill>
                <a:latin typeface="Calisto MT" panose="02040603050505030304" pitchFamily="18" charset="0"/>
                <a:ea typeface="Petrona Bold" pitchFamily="34" charset="-122"/>
                <a:cs typeface="Petrona Bold" pitchFamily="34" charset="-120"/>
              </a:rPr>
              <a:t>Module 3: Property Recommendation Engine</a:t>
            </a:r>
            <a:endParaRPr lang="en-US" sz="4350" dirty="0">
              <a:latin typeface="Calisto MT" panose="02040603050505030304" pitchFamily="18" charset="0"/>
            </a:endParaRPr>
          </a:p>
        </p:txBody>
      </p:sp>
      <p:sp>
        <p:nvSpPr>
          <p:cNvPr id="4" name="Text 1"/>
          <p:cNvSpPr/>
          <p:nvPr/>
        </p:nvSpPr>
        <p:spPr>
          <a:xfrm>
            <a:off x="705922" y="4283988"/>
            <a:ext cx="13218557" cy="322659"/>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An intelligent recommendation system leveraging cosine similarity and weighted scoring algorithms to match buyers with ideal properties.</a:t>
            </a:r>
            <a:endParaRPr lang="en-US" sz="1550" dirty="0"/>
          </a:p>
        </p:txBody>
      </p:sp>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81526" y="4839772"/>
            <a:ext cx="302538" cy="302538"/>
          </a:xfrm>
          <a:prstGeom prst="rect">
            <a:avLst/>
          </a:prstGeom>
        </p:spPr>
      </p:pic>
      <p:sp>
        <p:nvSpPr>
          <p:cNvPr id="6" name="Text 2"/>
          <p:cNvSpPr/>
          <p:nvPr/>
        </p:nvSpPr>
        <p:spPr>
          <a:xfrm>
            <a:off x="1361480" y="4833580"/>
            <a:ext cx="5877878" cy="322659"/>
          </a:xfrm>
          <a:prstGeom prst="rect">
            <a:avLst/>
          </a:prstGeom>
          <a:noFill/>
          <a:ln/>
        </p:spPr>
        <p:txBody>
          <a:bodyPr wrap="none" lIns="0" tIns="0" rIns="0" bIns="0" rtlCol="0" anchor="t"/>
          <a:lstStyle/>
          <a:p>
            <a:pPr marL="0" indent="0" algn="l">
              <a:lnSpc>
                <a:spcPts val="2700"/>
              </a:lnSpc>
              <a:buNone/>
            </a:pPr>
            <a:r>
              <a:rPr lang="en-US" sz="2150" b="1" dirty="0">
                <a:solidFill>
                  <a:srgbClr val="272525"/>
                </a:solidFill>
                <a:latin typeface="Calisto MT" panose="02040603050505030304" pitchFamily="18" charset="0"/>
                <a:ea typeface="Petrona Bold" pitchFamily="34" charset="-122"/>
                <a:cs typeface="Petrona Bold" pitchFamily="34" charset="-120"/>
              </a:rPr>
              <a:t>Cosine Similarity Algorithm</a:t>
            </a:r>
            <a:endParaRPr lang="en-US" sz="2150" dirty="0">
              <a:latin typeface="Calisto MT" panose="02040603050505030304" pitchFamily="18" charset="0"/>
            </a:endParaRPr>
          </a:p>
        </p:txBody>
      </p:sp>
      <p:sp>
        <p:nvSpPr>
          <p:cNvPr id="7" name="Text 3"/>
          <p:cNvSpPr/>
          <p:nvPr/>
        </p:nvSpPr>
        <p:spPr>
          <a:xfrm>
            <a:off x="1361480" y="5301258"/>
            <a:ext cx="5827633" cy="6453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Compares user preferences against property features, quantifying similarity to identify best matches.</a:t>
            </a:r>
            <a:endParaRPr lang="en-US" sz="1550" dirty="0"/>
          </a:p>
        </p:txBody>
      </p:sp>
      <p:pic>
        <p:nvPicPr>
          <p:cNvPr id="8" name="Image 2"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516773" y="4839772"/>
            <a:ext cx="302538" cy="302538"/>
          </a:xfrm>
          <a:prstGeom prst="rect">
            <a:avLst/>
          </a:prstGeom>
        </p:spPr>
      </p:pic>
      <p:sp>
        <p:nvSpPr>
          <p:cNvPr id="9" name="Text 4"/>
          <p:cNvSpPr/>
          <p:nvPr/>
        </p:nvSpPr>
        <p:spPr>
          <a:xfrm>
            <a:off x="8096725" y="4833580"/>
            <a:ext cx="5485459" cy="308730"/>
          </a:xfrm>
          <a:prstGeom prst="rect">
            <a:avLst/>
          </a:prstGeom>
          <a:noFill/>
          <a:ln/>
        </p:spPr>
        <p:txBody>
          <a:bodyPr wrap="none" lIns="0" tIns="0" rIns="0" bIns="0" rtlCol="0" anchor="t"/>
          <a:lstStyle/>
          <a:p>
            <a:pPr marL="0" indent="0" algn="l">
              <a:lnSpc>
                <a:spcPts val="2700"/>
              </a:lnSpc>
              <a:buNone/>
            </a:pPr>
            <a:r>
              <a:rPr lang="en-US" sz="2150" b="1" dirty="0">
                <a:solidFill>
                  <a:srgbClr val="272525"/>
                </a:solidFill>
                <a:latin typeface="Calisto MT" panose="02040603050505030304" pitchFamily="18" charset="0"/>
                <a:ea typeface="Petrona Bold" pitchFamily="34" charset="-122"/>
                <a:cs typeface="Petrona Bold" pitchFamily="34" charset="-120"/>
              </a:rPr>
              <a:t>Adjustable Weight Scoring</a:t>
            </a:r>
            <a:endParaRPr lang="en-US" sz="2150" dirty="0">
              <a:latin typeface="Calisto MT" panose="02040603050505030304" pitchFamily="18" charset="0"/>
            </a:endParaRPr>
          </a:p>
        </p:txBody>
      </p:sp>
      <p:sp>
        <p:nvSpPr>
          <p:cNvPr id="10" name="Text 5"/>
          <p:cNvSpPr/>
          <p:nvPr/>
        </p:nvSpPr>
        <p:spPr>
          <a:xfrm>
            <a:off x="8096726" y="5301258"/>
            <a:ext cx="5827752" cy="6453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Allows customization of importance levels for pricing, location proximity, facilities, and other criteria.</a:t>
            </a:r>
            <a:endParaRPr lang="en-US" sz="1550" dirty="0"/>
          </a:p>
        </p:txBody>
      </p:sp>
      <p:pic>
        <p:nvPicPr>
          <p:cNvPr id="11"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81526" y="6356152"/>
            <a:ext cx="302538" cy="302538"/>
          </a:xfrm>
          <a:prstGeom prst="rect">
            <a:avLst/>
          </a:prstGeom>
        </p:spPr>
      </p:pic>
      <p:sp>
        <p:nvSpPr>
          <p:cNvPr id="12" name="Text 6"/>
          <p:cNvSpPr/>
          <p:nvPr/>
        </p:nvSpPr>
        <p:spPr>
          <a:xfrm>
            <a:off x="1361480" y="6349960"/>
            <a:ext cx="5529974" cy="346710"/>
          </a:xfrm>
          <a:prstGeom prst="rect">
            <a:avLst/>
          </a:prstGeom>
          <a:noFill/>
          <a:ln/>
        </p:spPr>
        <p:txBody>
          <a:bodyPr wrap="none" lIns="0" tIns="0" rIns="0" bIns="0" rtlCol="0" anchor="t"/>
          <a:lstStyle/>
          <a:p>
            <a:pPr marL="0" indent="0" algn="l">
              <a:lnSpc>
                <a:spcPts val="2700"/>
              </a:lnSpc>
              <a:buNone/>
            </a:pPr>
            <a:r>
              <a:rPr lang="en-US" sz="2150" b="1" dirty="0">
                <a:solidFill>
                  <a:srgbClr val="272525"/>
                </a:solidFill>
                <a:latin typeface="Calisto MT" panose="02040603050505030304" pitchFamily="18" charset="0"/>
                <a:ea typeface="Petrona Bold" pitchFamily="34" charset="-122"/>
                <a:cs typeface="Petrona Bold" pitchFamily="34" charset="-120"/>
              </a:rPr>
              <a:t>Geographic Proximity Search</a:t>
            </a:r>
            <a:endParaRPr lang="en-US" sz="2150" dirty="0">
              <a:latin typeface="Calisto MT" panose="02040603050505030304" pitchFamily="18" charset="0"/>
            </a:endParaRPr>
          </a:p>
        </p:txBody>
      </p:sp>
      <p:sp>
        <p:nvSpPr>
          <p:cNvPr id="13" name="Text 7"/>
          <p:cNvSpPr/>
          <p:nvPr/>
        </p:nvSpPr>
        <p:spPr>
          <a:xfrm>
            <a:off x="1361480" y="6817638"/>
            <a:ext cx="5827633" cy="6453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The "Find Nearby Apartments" feature discovers properties within specified distance radius from desired locations.</a:t>
            </a:r>
            <a:endParaRPr lang="en-US" sz="1550" dirty="0"/>
          </a:p>
        </p:txBody>
      </p:sp>
      <p:pic>
        <p:nvPicPr>
          <p:cNvPr id="14" name="Image 4"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516773" y="6356152"/>
            <a:ext cx="302538" cy="302538"/>
          </a:xfrm>
          <a:prstGeom prst="rect">
            <a:avLst/>
          </a:prstGeom>
        </p:spPr>
      </p:pic>
      <p:sp>
        <p:nvSpPr>
          <p:cNvPr id="15" name="Text 8"/>
          <p:cNvSpPr/>
          <p:nvPr/>
        </p:nvSpPr>
        <p:spPr>
          <a:xfrm>
            <a:off x="8096726" y="6349960"/>
            <a:ext cx="5485458" cy="346710"/>
          </a:xfrm>
          <a:prstGeom prst="rect">
            <a:avLst/>
          </a:prstGeom>
          <a:noFill/>
          <a:ln/>
        </p:spPr>
        <p:txBody>
          <a:bodyPr wrap="none" lIns="0" tIns="0" rIns="0" bIns="0" rtlCol="0" anchor="t"/>
          <a:lstStyle/>
          <a:p>
            <a:pPr marL="0" indent="0" algn="l">
              <a:lnSpc>
                <a:spcPts val="2700"/>
              </a:lnSpc>
              <a:buNone/>
            </a:pPr>
            <a:r>
              <a:rPr lang="en-US" sz="2150" b="1" dirty="0">
                <a:solidFill>
                  <a:srgbClr val="272525"/>
                </a:solidFill>
                <a:latin typeface="Calisto MT" panose="02040603050505030304" pitchFamily="18" charset="0"/>
                <a:ea typeface="Petrona Bold" pitchFamily="34" charset="-122"/>
                <a:cs typeface="Petrona Bold" pitchFamily="34" charset="-120"/>
              </a:rPr>
              <a:t>Personalized</a:t>
            </a:r>
            <a:r>
              <a:rPr lang="en-US" sz="2150" b="1" dirty="0">
                <a:solidFill>
                  <a:srgbClr val="272525"/>
                </a:solidFill>
                <a:latin typeface="Petrona Bold" pitchFamily="34" charset="0"/>
                <a:ea typeface="Petrona Bold" pitchFamily="34" charset="-122"/>
                <a:cs typeface="Petrona Bold" pitchFamily="34" charset="-120"/>
              </a:rPr>
              <a:t> Suggestions</a:t>
            </a:r>
            <a:endParaRPr lang="en-US" sz="2150" dirty="0"/>
          </a:p>
        </p:txBody>
      </p:sp>
      <p:sp>
        <p:nvSpPr>
          <p:cNvPr id="16" name="Text 9"/>
          <p:cNvSpPr/>
          <p:nvPr/>
        </p:nvSpPr>
        <p:spPr>
          <a:xfrm>
            <a:off x="8096726" y="6817638"/>
            <a:ext cx="5827752" cy="6453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Delivers ranked property recommendations ranked by match score, presenting the most suitable options first.</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3">
            <a:extLst>
              <a:ext uri="{FF2B5EF4-FFF2-40B4-BE49-F238E27FC236}">
                <a16:creationId xmlns:a16="http://schemas.microsoft.com/office/drawing/2014/main" id="{BF24D3FA-2E01-3D2F-FD98-0D26F117730D}"/>
              </a:ext>
            </a:extLst>
          </p:cNvPr>
          <p:cNvSpPr/>
          <p:nvPr/>
        </p:nvSpPr>
        <p:spPr>
          <a:xfrm>
            <a:off x="1028343" y="2924175"/>
            <a:ext cx="3450788"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Category</a:t>
            </a:r>
            <a:endParaRPr lang="en-US" sz="1750" dirty="0"/>
          </a:p>
        </p:txBody>
      </p:sp>
      <p:sp>
        <p:nvSpPr>
          <p:cNvPr id="3" name="Text 4">
            <a:extLst>
              <a:ext uri="{FF2B5EF4-FFF2-40B4-BE49-F238E27FC236}">
                <a16:creationId xmlns:a16="http://schemas.microsoft.com/office/drawing/2014/main" id="{D64A8994-C2D5-805C-39A4-EDDEABB7E775}"/>
              </a:ext>
            </a:extLst>
          </p:cNvPr>
          <p:cNvSpPr/>
          <p:nvPr/>
        </p:nvSpPr>
        <p:spPr>
          <a:xfrm>
            <a:off x="4940379" y="2924175"/>
            <a:ext cx="8661797"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Tools Used</a:t>
            </a:r>
            <a:endParaRPr lang="en-US" sz="1750" dirty="0"/>
          </a:p>
        </p:txBody>
      </p:sp>
      <p:sp>
        <p:nvSpPr>
          <p:cNvPr id="4" name="Text 6">
            <a:extLst>
              <a:ext uri="{FF2B5EF4-FFF2-40B4-BE49-F238E27FC236}">
                <a16:creationId xmlns:a16="http://schemas.microsoft.com/office/drawing/2014/main" id="{F8DC8AC2-DDD4-6BFD-F957-A754D2E70F63}"/>
              </a:ext>
            </a:extLst>
          </p:cNvPr>
          <p:cNvSpPr/>
          <p:nvPr/>
        </p:nvSpPr>
        <p:spPr>
          <a:xfrm>
            <a:off x="1028343" y="3574494"/>
            <a:ext cx="3450788"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Language</a:t>
            </a:r>
            <a:endParaRPr lang="en-US" sz="1750" dirty="0"/>
          </a:p>
        </p:txBody>
      </p:sp>
      <p:sp>
        <p:nvSpPr>
          <p:cNvPr id="5" name="Text 7">
            <a:extLst>
              <a:ext uri="{FF2B5EF4-FFF2-40B4-BE49-F238E27FC236}">
                <a16:creationId xmlns:a16="http://schemas.microsoft.com/office/drawing/2014/main" id="{117D5D44-BFA7-8B21-9F98-DB6D4FB0F949}"/>
              </a:ext>
            </a:extLst>
          </p:cNvPr>
          <p:cNvSpPr/>
          <p:nvPr/>
        </p:nvSpPr>
        <p:spPr>
          <a:xfrm>
            <a:off x="4940379" y="3574494"/>
            <a:ext cx="8661797"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Python</a:t>
            </a:r>
            <a:endParaRPr lang="en-US" sz="1750" dirty="0"/>
          </a:p>
        </p:txBody>
      </p:sp>
      <p:sp>
        <p:nvSpPr>
          <p:cNvPr id="6" name="Text 9">
            <a:extLst>
              <a:ext uri="{FF2B5EF4-FFF2-40B4-BE49-F238E27FC236}">
                <a16:creationId xmlns:a16="http://schemas.microsoft.com/office/drawing/2014/main" id="{A5F15F7B-9F78-1498-4B9C-400A4C436326}"/>
              </a:ext>
            </a:extLst>
          </p:cNvPr>
          <p:cNvSpPr/>
          <p:nvPr/>
        </p:nvSpPr>
        <p:spPr>
          <a:xfrm>
            <a:off x="1028343" y="4224814"/>
            <a:ext cx="3450788"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Framework</a:t>
            </a:r>
            <a:endParaRPr lang="en-US" sz="1750" dirty="0"/>
          </a:p>
        </p:txBody>
      </p:sp>
      <p:sp>
        <p:nvSpPr>
          <p:cNvPr id="7" name="Text 10">
            <a:extLst>
              <a:ext uri="{FF2B5EF4-FFF2-40B4-BE49-F238E27FC236}">
                <a16:creationId xmlns:a16="http://schemas.microsoft.com/office/drawing/2014/main" id="{61DF6232-466B-C0D8-3E92-8BED7A51F6AA}"/>
              </a:ext>
            </a:extLst>
          </p:cNvPr>
          <p:cNvSpPr/>
          <p:nvPr/>
        </p:nvSpPr>
        <p:spPr>
          <a:xfrm>
            <a:off x="4940379" y="4224814"/>
            <a:ext cx="8661797" cy="362903"/>
          </a:xfrm>
          <a:prstGeom prst="rect">
            <a:avLst/>
          </a:prstGeom>
          <a:noFill/>
          <a:ln/>
        </p:spPr>
        <p:txBody>
          <a:bodyPr wrap="none" lIns="0" tIns="0" rIns="0" bIns="0" rtlCol="0" anchor="t"/>
          <a:lstStyle/>
          <a:p>
            <a:pPr>
              <a:lnSpc>
                <a:spcPts val="2850"/>
              </a:lnSpc>
            </a:pPr>
            <a:r>
              <a:rPr lang="en-US" sz="1750" dirty="0" err="1">
                <a:solidFill>
                  <a:srgbClr val="272525"/>
                </a:solidFill>
                <a:latin typeface="Inter" pitchFamily="34" charset="0"/>
                <a:ea typeface="Inter" pitchFamily="34" charset="-122"/>
                <a:cs typeface="Inter" pitchFamily="34" charset="-120"/>
              </a:rPr>
              <a:t>Streamlit</a:t>
            </a:r>
            <a:r>
              <a:rPr lang="en-US" sz="1750" dirty="0">
                <a:solidFill>
                  <a:srgbClr val="272525"/>
                </a:solidFill>
                <a:latin typeface="Inter" pitchFamily="34" charset="0"/>
                <a:ea typeface="Inter" pitchFamily="34" charset="-122"/>
                <a:cs typeface="Inter" pitchFamily="34" charset="-120"/>
              </a:rPr>
              <a:t>, Beautiful Soup, </a:t>
            </a:r>
            <a:r>
              <a:rPr lang="en-IN" dirty="0"/>
              <a:t>TF-IDF, NLTK  </a:t>
            </a:r>
            <a:endParaRPr lang="en-US" sz="1750" dirty="0"/>
          </a:p>
        </p:txBody>
      </p:sp>
      <p:sp>
        <p:nvSpPr>
          <p:cNvPr id="8" name="Text 12">
            <a:extLst>
              <a:ext uri="{FF2B5EF4-FFF2-40B4-BE49-F238E27FC236}">
                <a16:creationId xmlns:a16="http://schemas.microsoft.com/office/drawing/2014/main" id="{743D2328-02B1-D16C-8DAF-EE4508CDFB4E}"/>
              </a:ext>
            </a:extLst>
          </p:cNvPr>
          <p:cNvSpPr/>
          <p:nvPr/>
        </p:nvSpPr>
        <p:spPr>
          <a:xfrm>
            <a:off x="1028343" y="4875133"/>
            <a:ext cx="3450788"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Libraries</a:t>
            </a:r>
            <a:endParaRPr lang="en-US" sz="1750" dirty="0"/>
          </a:p>
        </p:txBody>
      </p:sp>
      <p:sp>
        <p:nvSpPr>
          <p:cNvPr id="9" name="Text 13">
            <a:extLst>
              <a:ext uri="{FF2B5EF4-FFF2-40B4-BE49-F238E27FC236}">
                <a16:creationId xmlns:a16="http://schemas.microsoft.com/office/drawing/2014/main" id="{B1ECDC71-F456-1100-B15A-A82A926AA48F}"/>
              </a:ext>
            </a:extLst>
          </p:cNvPr>
          <p:cNvSpPr/>
          <p:nvPr/>
        </p:nvSpPr>
        <p:spPr>
          <a:xfrm>
            <a:off x="4940379" y="4875133"/>
            <a:ext cx="8661797"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Pandas, NumPy, Scikit-learn, XGBoost, Plotly, Seaborn, Matplotlib</a:t>
            </a:r>
            <a:endParaRPr lang="en-US" sz="1750" dirty="0"/>
          </a:p>
        </p:txBody>
      </p:sp>
      <p:sp>
        <p:nvSpPr>
          <p:cNvPr id="10" name="Text 15">
            <a:extLst>
              <a:ext uri="{FF2B5EF4-FFF2-40B4-BE49-F238E27FC236}">
                <a16:creationId xmlns:a16="http://schemas.microsoft.com/office/drawing/2014/main" id="{2C63B86A-367F-D5B5-A044-2FA237C0833D}"/>
              </a:ext>
            </a:extLst>
          </p:cNvPr>
          <p:cNvSpPr/>
          <p:nvPr/>
        </p:nvSpPr>
        <p:spPr>
          <a:xfrm>
            <a:off x="1028343" y="5525453"/>
            <a:ext cx="3450788"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Optimization</a:t>
            </a:r>
            <a:endParaRPr lang="en-US" sz="1750" dirty="0"/>
          </a:p>
        </p:txBody>
      </p:sp>
      <p:sp>
        <p:nvSpPr>
          <p:cNvPr id="11" name="Text 16">
            <a:extLst>
              <a:ext uri="{FF2B5EF4-FFF2-40B4-BE49-F238E27FC236}">
                <a16:creationId xmlns:a16="http://schemas.microsoft.com/office/drawing/2014/main" id="{1360FFF5-6FA3-8304-31D3-4E32AE118DE5}"/>
              </a:ext>
            </a:extLst>
          </p:cNvPr>
          <p:cNvSpPr/>
          <p:nvPr/>
        </p:nvSpPr>
        <p:spPr>
          <a:xfrm>
            <a:off x="4940379" y="5525453"/>
            <a:ext cx="8661797" cy="362903"/>
          </a:xfrm>
          <a:prstGeom prst="rect">
            <a:avLst/>
          </a:prstGeom>
          <a:noFill/>
          <a:ln/>
        </p:spPr>
        <p:txBody>
          <a:bodyPr wrap="none" lIns="0" tIns="0" rIns="0" bIns="0" rtlCol="0" anchor="t"/>
          <a:lstStyle/>
          <a:p>
            <a:pPr marL="0" indent="0" algn="l">
              <a:lnSpc>
                <a:spcPts val="2850"/>
              </a:lnSpc>
              <a:buNone/>
            </a:pPr>
            <a:r>
              <a:rPr lang="en-US" sz="1750" dirty="0" err="1">
                <a:solidFill>
                  <a:srgbClr val="272525"/>
                </a:solidFill>
                <a:latin typeface="Inter" pitchFamily="34" charset="0"/>
                <a:ea typeface="Inter" pitchFamily="34" charset="-122"/>
                <a:cs typeface="Inter" pitchFamily="34" charset="-120"/>
              </a:rPr>
              <a:t>Optuna</a:t>
            </a:r>
            <a:r>
              <a:rPr lang="en-US" sz="1750" dirty="0">
                <a:solidFill>
                  <a:srgbClr val="272525"/>
                </a:solidFill>
                <a:latin typeface="Inter" pitchFamily="34" charset="0"/>
                <a:ea typeface="Inter" pitchFamily="34" charset="-122"/>
                <a:cs typeface="Inter" pitchFamily="34" charset="-120"/>
              </a:rPr>
              <a:t>, Pandas-Profiling, SHAP, </a:t>
            </a:r>
            <a:r>
              <a:rPr lang="en-US" sz="1750" dirty="0" err="1">
                <a:solidFill>
                  <a:srgbClr val="272525"/>
                </a:solidFill>
                <a:latin typeface="Inter" pitchFamily="34" charset="0"/>
                <a:ea typeface="Inter" pitchFamily="34" charset="-122"/>
                <a:cs typeface="Inter" pitchFamily="34" charset="-120"/>
              </a:rPr>
              <a:t>Statsmodel</a:t>
            </a:r>
            <a:endParaRPr lang="en-US" sz="1750" dirty="0"/>
          </a:p>
        </p:txBody>
      </p:sp>
      <p:sp>
        <p:nvSpPr>
          <p:cNvPr id="12" name="Text 18">
            <a:extLst>
              <a:ext uri="{FF2B5EF4-FFF2-40B4-BE49-F238E27FC236}">
                <a16:creationId xmlns:a16="http://schemas.microsoft.com/office/drawing/2014/main" id="{EADA86B6-B049-8ECB-4642-33DC06D3E33D}"/>
              </a:ext>
            </a:extLst>
          </p:cNvPr>
          <p:cNvSpPr/>
          <p:nvPr/>
        </p:nvSpPr>
        <p:spPr>
          <a:xfrm>
            <a:off x="1028343" y="6175772"/>
            <a:ext cx="3450788"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Deployment</a:t>
            </a:r>
            <a:endParaRPr lang="en-US" sz="1750" dirty="0"/>
          </a:p>
        </p:txBody>
      </p:sp>
      <p:sp>
        <p:nvSpPr>
          <p:cNvPr id="13" name="Text 19">
            <a:extLst>
              <a:ext uri="{FF2B5EF4-FFF2-40B4-BE49-F238E27FC236}">
                <a16:creationId xmlns:a16="http://schemas.microsoft.com/office/drawing/2014/main" id="{3995A217-C6DC-F24C-2967-7ED9AEB65EEC}"/>
              </a:ext>
            </a:extLst>
          </p:cNvPr>
          <p:cNvSpPr/>
          <p:nvPr/>
        </p:nvSpPr>
        <p:spPr>
          <a:xfrm>
            <a:off x="4940379" y="6175772"/>
            <a:ext cx="8661797" cy="362903"/>
          </a:xfrm>
          <a:prstGeom prst="rect">
            <a:avLst/>
          </a:prstGeom>
          <a:noFill/>
          <a:ln/>
        </p:spPr>
        <p:txBody>
          <a:bodyPr wrap="none" lIns="0" tIns="0" rIns="0" bIns="0" rtlCol="0" anchor="t"/>
          <a:lstStyle/>
          <a:p>
            <a:pPr>
              <a:lnSpc>
                <a:spcPts val="2850"/>
              </a:lnSpc>
            </a:pPr>
            <a:r>
              <a:rPr lang="en-US" sz="1750" dirty="0" err="1">
                <a:solidFill>
                  <a:srgbClr val="272525"/>
                </a:solidFill>
                <a:latin typeface="Inter" pitchFamily="34" charset="0"/>
                <a:ea typeface="Inter" pitchFamily="34" charset="-122"/>
                <a:cs typeface="Inter" pitchFamily="34" charset="-120"/>
              </a:rPr>
              <a:t>Streamlit</a:t>
            </a:r>
            <a:r>
              <a:rPr lang="en-US" sz="1750" dirty="0">
                <a:solidFill>
                  <a:srgbClr val="272525"/>
                </a:solidFill>
                <a:latin typeface="Inter" pitchFamily="34" charset="0"/>
                <a:ea typeface="Inter" pitchFamily="34" charset="-122"/>
                <a:cs typeface="Inter" pitchFamily="34" charset="-120"/>
              </a:rPr>
              <a:t> Cloud , Amazon Web services</a:t>
            </a:r>
            <a:r>
              <a:rPr lang="en-IN" dirty="0"/>
              <a:t>(EC2, S3)</a:t>
            </a:r>
            <a:endParaRPr lang="en-US" sz="1750" dirty="0"/>
          </a:p>
        </p:txBody>
      </p:sp>
      <p:sp>
        <p:nvSpPr>
          <p:cNvPr id="14" name="Text 0">
            <a:extLst>
              <a:ext uri="{FF2B5EF4-FFF2-40B4-BE49-F238E27FC236}">
                <a16:creationId xmlns:a16="http://schemas.microsoft.com/office/drawing/2014/main" id="{6BC650D4-CAF1-55FC-820B-9CCD51AF1EDF}"/>
              </a:ext>
            </a:extLst>
          </p:cNvPr>
          <p:cNvSpPr/>
          <p:nvPr/>
        </p:nvSpPr>
        <p:spPr>
          <a:xfrm>
            <a:off x="793790" y="1539597"/>
            <a:ext cx="6237684" cy="779621"/>
          </a:xfrm>
          <a:prstGeom prst="rect">
            <a:avLst/>
          </a:prstGeom>
          <a:noFill/>
          <a:ln/>
        </p:spPr>
        <p:txBody>
          <a:bodyPr wrap="none" lIns="0" tIns="0" rIns="0" bIns="0" rtlCol="0" anchor="t"/>
          <a:lstStyle/>
          <a:p>
            <a:pPr marL="0" indent="0" algn="l">
              <a:lnSpc>
                <a:spcPts val="6100"/>
              </a:lnSpc>
              <a:buNone/>
            </a:pPr>
            <a:r>
              <a:rPr lang="en-US" sz="4900" b="1" dirty="0">
                <a:solidFill>
                  <a:srgbClr val="F95F88"/>
                </a:solidFill>
                <a:latin typeface="Calisto MT" panose="02040603050505030304" pitchFamily="18" charset="0"/>
                <a:ea typeface="Petrona Bold" pitchFamily="34" charset="-122"/>
                <a:cs typeface="Petrona Bold" pitchFamily="34" charset="-120"/>
              </a:rPr>
              <a:t>Technology Stack</a:t>
            </a:r>
            <a:endParaRPr lang="en-US" sz="4900" dirty="0">
              <a:latin typeface="Calisto MT" panose="02040603050505030304" pitchFamily="18" charset="0"/>
            </a:endParaRPr>
          </a:p>
        </p:txBody>
      </p:sp>
    </p:spTree>
    <p:extLst>
      <p:ext uri="{BB962C8B-B14F-4D97-AF65-F5344CB8AC3E}">
        <p14:creationId xmlns:p14="http://schemas.microsoft.com/office/powerpoint/2010/main" val="3704656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AAB653F-872E-EA77-8F24-A8599D09C8F1}"/>
              </a:ext>
            </a:extLst>
          </p:cNvPr>
          <p:cNvSpPr txBox="1"/>
          <p:nvPr/>
        </p:nvSpPr>
        <p:spPr>
          <a:xfrm>
            <a:off x="869794" y="709643"/>
            <a:ext cx="9222059" cy="838050"/>
          </a:xfrm>
          <a:prstGeom prst="rect">
            <a:avLst/>
          </a:prstGeom>
          <a:noFill/>
        </p:spPr>
        <p:txBody>
          <a:bodyPr wrap="square">
            <a:spAutoFit/>
          </a:bodyPr>
          <a:lstStyle/>
          <a:p>
            <a:pPr marL="0" indent="0" algn="l">
              <a:lnSpc>
                <a:spcPts val="6100"/>
              </a:lnSpc>
              <a:buNone/>
            </a:pPr>
            <a:r>
              <a:rPr lang="en-US" sz="4400" b="1" dirty="0">
                <a:solidFill>
                  <a:srgbClr val="F95F88"/>
                </a:solidFill>
                <a:latin typeface="Calisto MT" panose="02040603050505030304" pitchFamily="18" charset="0"/>
                <a:ea typeface="Petrona Bold" pitchFamily="34" charset="-122"/>
                <a:cs typeface="Petrona Bold" pitchFamily="34" charset="-120"/>
              </a:rPr>
              <a:t>Conclusion &amp; Future Scope</a:t>
            </a:r>
            <a:endParaRPr lang="en-US" sz="4400" dirty="0">
              <a:latin typeface="Calisto MT" panose="02040603050505030304" pitchFamily="18" charset="0"/>
            </a:endParaRPr>
          </a:p>
        </p:txBody>
      </p:sp>
      <p:sp>
        <p:nvSpPr>
          <p:cNvPr id="10" name="TextBox 9">
            <a:extLst>
              <a:ext uri="{FF2B5EF4-FFF2-40B4-BE49-F238E27FC236}">
                <a16:creationId xmlns:a16="http://schemas.microsoft.com/office/drawing/2014/main" id="{0C54BD0F-B1C1-C538-D2B8-345043FD3AE8}"/>
              </a:ext>
            </a:extLst>
          </p:cNvPr>
          <p:cNvSpPr txBox="1"/>
          <p:nvPr/>
        </p:nvSpPr>
        <p:spPr>
          <a:xfrm>
            <a:off x="869795" y="1737508"/>
            <a:ext cx="7315200" cy="679225"/>
          </a:xfrm>
          <a:prstGeom prst="rect">
            <a:avLst/>
          </a:prstGeom>
          <a:noFill/>
        </p:spPr>
        <p:txBody>
          <a:bodyPr wrap="square">
            <a:spAutoFit/>
          </a:bodyPr>
          <a:lstStyle/>
          <a:p>
            <a:pPr marL="0" indent="0" algn="l">
              <a:lnSpc>
                <a:spcPts val="4900"/>
              </a:lnSpc>
              <a:buNone/>
            </a:pPr>
            <a:r>
              <a:rPr lang="en-US" sz="3200" b="1" dirty="0">
                <a:solidFill>
                  <a:srgbClr val="F95F88"/>
                </a:solidFill>
                <a:latin typeface="Calisto MT" panose="02040603050505030304" pitchFamily="18" charset="0"/>
                <a:ea typeface="Petrona Bold" pitchFamily="34" charset="-122"/>
                <a:cs typeface="Petrona Bold" pitchFamily="34" charset="-120"/>
              </a:rPr>
              <a:t>Project Achievements</a:t>
            </a:r>
            <a:endParaRPr lang="en-US" sz="3200" dirty="0">
              <a:latin typeface="Calisto MT" panose="02040603050505030304" pitchFamily="18" charset="0"/>
            </a:endParaRPr>
          </a:p>
        </p:txBody>
      </p:sp>
      <p:sp>
        <p:nvSpPr>
          <p:cNvPr id="12" name="TextBox 11">
            <a:extLst>
              <a:ext uri="{FF2B5EF4-FFF2-40B4-BE49-F238E27FC236}">
                <a16:creationId xmlns:a16="http://schemas.microsoft.com/office/drawing/2014/main" id="{08ADDACD-A34D-7BBC-B6F1-9CF81E8FC763}"/>
              </a:ext>
            </a:extLst>
          </p:cNvPr>
          <p:cNvSpPr txBox="1"/>
          <p:nvPr/>
        </p:nvSpPr>
        <p:spPr>
          <a:xfrm>
            <a:off x="869794" y="3218514"/>
            <a:ext cx="7839307" cy="430952"/>
          </a:xfrm>
          <a:prstGeom prst="rect">
            <a:avLst/>
          </a:prstGeom>
          <a:noFill/>
        </p:spPr>
        <p:txBody>
          <a:bodyPr wrap="square">
            <a:spAutoFit/>
          </a:bodyPr>
          <a:lstStyle/>
          <a:p>
            <a:pPr marL="342900" indent="-342900" algn="l">
              <a:lnSpc>
                <a:spcPts val="2850"/>
              </a:lnSpc>
              <a:buSzPct val="100000"/>
              <a:buChar char="•"/>
            </a:pPr>
            <a:r>
              <a:rPr lang="en-US" sz="1800" dirty="0">
                <a:solidFill>
                  <a:srgbClr val="272525"/>
                </a:solidFill>
                <a:latin typeface="Inter" pitchFamily="34" charset="0"/>
                <a:ea typeface="Inter" pitchFamily="34" charset="-122"/>
                <a:cs typeface="Inter" pitchFamily="34" charset="-120"/>
              </a:rPr>
              <a:t>Project achieved accurate price prediction and useful analytics</a:t>
            </a:r>
            <a:endParaRPr lang="en-US" sz="1800" dirty="0"/>
          </a:p>
        </p:txBody>
      </p:sp>
      <p:sp>
        <p:nvSpPr>
          <p:cNvPr id="14" name="TextBox 13">
            <a:extLst>
              <a:ext uri="{FF2B5EF4-FFF2-40B4-BE49-F238E27FC236}">
                <a16:creationId xmlns:a16="http://schemas.microsoft.com/office/drawing/2014/main" id="{9772C612-6DE7-07CF-3944-BC1CD43490AC}"/>
              </a:ext>
            </a:extLst>
          </p:cNvPr>
          <p:cNvSpPr txBox="1"/>
          <p:nvPr/>
        </p:nvSpPr>
        <p:spPr>
          <a:xfrm>
            <a:off x="869795" y="2587848"/>
            <a:ext cx="7315200" cy="430952"/>
          </a:xfrm>
          <a:prstGeom prst="rect">
            <a:avLst/>
          </a:prstGeom>
          <a:noFill/>
        </p:spPr>
        <p:txBody>
          <a:bodyPr wrap="square">
            <a:spAutoFit/>
          </a:bodyPr>
          <a:lstStyle/>
          <a:p>
            <a:pPr marL="342900" indent="-342900" algn="l">
              <a:lnSpc>
                <a:spcPts val="2850"/>
              </a:lnSpc>
              <a:buSzPct val="100000"/>
              <a:buChar char="•"/>
            </a:pPr>
            <a:r>
              <a:rPr lang="en-US" sz="1800" dirty="0">
                <a:solidFill>
                  <a:srgbClr val="272525"/>
                </a:solidFill>
                <a:latin typeface="Inter" pitchFamily="34" charset="0"/>
                <a:ea typeface="Inter" pitchFamily="34" charset="-122"/>
                <a:cs typeface="Inter" pitchFamily="34" charset="-120"/>
              </a:rPr>
              <a:t>Provided user-friendly dashboard for decision-making</a:t>
            </a:r>
            <a:endParaRPr lang="en-US" sz="1800" dirty="0"/>
          </a:p>
        </p:txBody>
      </p:sp>
      <p:sp>
        <p:nvSpPr>
          <p:cNvPr id="16" name="TextBox 15">
            <a:extLst>
              <a:ext uri="{FF2B5EF4-FFF2-40B4-BE49-F238E27FC236}">
                <a16:creationId xmlns:a16="http://schemas.microsoft.com/office/drawing/2014/main" id="{609041DC-636E-82D4-9CB8-F0F4786556E8}"/>
              </a:ext>
            </a:extLst>
          </p:cNvPr>
          <p:cNvSpPr txBox="1"/>
          <p:nvPr/>
        </p:nvSpPr>
        <p:spPr>
          <a:xfrm>
            <a:off x="869794" y="3805886"/>
            <a:ext cx="7315200" cy="430952"/>
          </a:xfrm>
          <a:prstGeom prst="rect">
            <a:avLst/>
          </a:prstGeom>
          <a:noFill/>
        </p:spPr>
        <p:txBody>
          <a:bodyPr wrap="square">
            <a:spAutoFit/>
          </a:bodyPr>
          <a:lstStyle/>
          <a:p>
            <a:pPr marL="342900" indent="-342900" algn="l">
              <a:lnSpc>
                <a:spcPts val="2850"/>
              </a:lnSpc>
              <a:buSzPct val="100000"/>
              <a:buChar char="•"/>
            </a:pPr>
            <a:r>
              <a:rPr lang="en-US" sz="1800" dirty="0">
                <a:solidFill>
                  <a:srgbClr val="272525"/>
                </a:solidFill>
                <a:latin typeface="Inter" pitchFamily="34" charset="0"/>
                <a:ea typeface="Inter" pitchFamily="34" charset="-122"/>
                <a:cs typeface="Inter" pitchFamily="34" charset="-120"/>
              </a:rPr>
              <a:t>Demonstrated strong ML integration in real estate domain</a:t>
            </a:r>
            <a:endParaRPr lang="en-US" sz="1800" dirty="0"/>
          </a:p>
        </p:txBody>
      </p:sp>
      <p:sp>
        <p:nvSpPr>
          <p:cNvPr id="18" name="TextBox 17">
            <a:extLst>
              <a:ext uri="{FF2B5EF4-FFF2-40B4-BE49-F238E27FC236}">
                <a16:creationId xmlns:a16="http://schemas.microsoft.com/office/drawing/2014/main" id="{CAD2D75B-842C-61D5-C001-BDF2C034DE28}"/>
              </a:ext>
            </a:extLst>
          </p:cNvPr>
          <p:cNvSpPr txBox="1"/>
          <p:nvPr/>
        </p:nvSpPr>
        <p:spPr>
          <a:xfrm>
            <a:off x="869795" y="4309470"/>
            <a:ext cx="7315200" cy="693716"/>
          </a:xfrm>
          <a:prstGeom prst="rect">
            <a:avLst/>
          </a:prstGeom>
          <a:noFill/>
        </p:spPr>
        <p:txBody>
          <a:bodyPr wrap="square">
            <a:spAutoFit/>
          </a:bodyPr>
          <a:lstStyle/>
          <a:p>
            <a:pPr marL="0" indent="0" algn="l">
              <a:lnSpc>
                <a:spcPts val="4900"/>
              </a:lnSpc>
              <a:buNone/>
            </a:pPr>
            <a:r>
              <a:rPr lang="en-US" sz="3200" b="1" dirty="0">
                <a:solidFill>
                  <a:srgbClr val="F95F88"/>
                </a:solidFill>
                <a:latin typeface="Calisto MT" panose="02040603050505030304" pitchFamily="18" charset="0"/>
                <a:ea typeface="Petrona Bold" pitchFamily="34" charset="-122"/>
                <a:cs typeface="Petrona Bold" pitchFamily="34" charset="-120"/>
              </a:rPr>
              <a:t>Future</a:t>
            </a:r>
            <a:r>
              <a:rPr lang="en-US" sz="3600" b="1" dirty="0">
                <a:solidFill>
                  <a:srgbClr val="F95F88"/>
                </a:solidFill>
                <a:latin typeface="Calisto MT" panose="02040603050505030304" pitchFamily="18" charset="0"/>
                <a:ea typeface="Petrona Bold" pitchFamily="34" charset="-122"/>
                <a:cs typeface="Petrona Bold" pitchFamily="34" charset="-120"/>
              </a:rPr>
              <a:t> Scope</a:t>
            </a:r>
            <a:endParaRPr lang="en-US" sz="3600" dirty="0">
              <a:latin typeface="Calisto MT" panose="02040603050505030304" pitchFamily="18" charset="0"/>
            </a:endParaRPr>
          </a:p>
        </p:txBody>
      </p:sp>
      <p:sp>
        <p:nvSpPr>
          <p:cNvPr id="20" name="TextBox 19">
            <a:extLst>
              <a:ext uri="{FF2B5EF4-FFF2-40B4-BE49-F238E27FC236}">
                <a16:creationId xmlns:a16="http://schemas.microsoft.com/office/drawing/2014/main" id="{BCFBB2B7-5ED8-F154-6F30-1CDB5C2F3E2F}"/>
              </a:ext>
            </a:extLst>
          </p:cNvPr>
          <p:cNvSpPr txBox="1"/>
          <p:nvPr/>
        </p:nvSpPr>
        <p:spPr>
          <a:xfrm>
            <a:off x="869794" y="5082982"/>
            <a:ext cx="7315200" cy="430952"/>
          </a:xfrm>
          <a:prstGeom prst="rect">
            <a:avLst/>
          </a:prstGeom>
          <a:noFill/>
        </p:spPr>
        <p:txBody>
          <a:bodyPr wrap="square">
            <a:spAutoFit/>
          </a:bodyPr>
          <a:lstStyle/>
          <a:p>
            <a:pPr marL="342900" indent="-342900" algn="l">
              <a:lnSpc>
                <a:spcPts val="2850"/>
              </a:lnSpc>
              <a:buSzPct val="100000"/>
              <a:buChar char="•"/>
            </a:pPr>
            <a:r>
              <a:rPr lang="en-US" sz="1800" dirty="0">
                <a:solidFill>
                  <a:srgbClr val="272525"/>
                </a:solidFill>
                <a:latin typeface="Inter" pitchFamily="34" charset="0"/>
                <a:ea typeface="Inter" pitchFamily="34" charset="-122"/>
                <a:cs typeface="Inter" pitchFamily="34" charset="-120"/>
              </a:rPr>
              <a:t>Add real-time API-based data updates</a:t>
            </a:r>
            <a:endParaRPr lang="en-US" sz="1800" dirty="0"/>
          </a:p>
        </p:txBody>
      </p:sp>
      <p:sp>
        <p:nvSpPr>
          <p:cNvPr id="22" name="TextBox 21">
            <a:extLst>
              <a:ext uri="{FF2B5EF4-FFF2-40B4-BE49-F238E27FC236}">
                <a16:creationId xmlns:a16="http://schemas.microsoft.com/office/drawing/2014/main" id="{D20F6DA3-6DA5-B275-31E1-D54DB5A12A2C}"/>
              </a:ext>
            </a:extLst>
          </p:cNvPr>
          <p:cNvSpPr txBox="1"/>
          <p:nvPr/>
        </p:nvSpPr>
        <p:spPr>
          <a:xfrm>
            <a:off x="869795" y="5633852"/>
            <a:ext cx="7315200" cy="430952"/>
          </a:xfrm>
          <a:prstGeom prst="rect">
            <a:avLst/>
          </a:prstGeom>
          <a:noFill/>
        </p:spPr>
        <p:txBody>
          <a:bodyPr wrap="square">
            <a:spAutoFit/>
          </a:bodyPr>
          <a:lstStyle/>
          <a:p>
            <a:pPr marL="342900" indent="-342900" algn="l">
              <a:lnSpc>
                <a:spcPts val="2850"/>
              </a:lnSpc>
              <a:buSzPct val="100000"/>
              <a:buChar char="•"/>
            </a:pPr>
            <a:r>
              <a:rPr lang="en-US" sz="1800" dirty="0">
                <a:solidFill>
                  <a:srgbClr val="272525"/>
                </a:solidFill>
                <a:latin typeface="Inter" pitchFamily="34" charset="0"/>
                <a:ea typeface="Inter" pitchFamily="34" charset="-122"/>
                <a:cs typeface="Inter" pitchFamily="34" charset="-120"/>
              </a:rPr>
              <a:t>Implement deep learning models for prediction</a:t>
            </a:r>
            <a:endParaRPr lang="en-US" sz="1800" dirty="0"/>
          </a:p>
        </p:txBody>
      </p:sp>
      <p:sp>
        <p:nvSpPr>
          <p:cNvPr id="24" name="TextBox 23">
            <a:extLst>
              <a:ext uri="{FF2B5EF4-FFF2-40B4-BE49-F238E27FC236}">
                <a16:creationId xmlns:a16="http://schemas.microsoft.com/office/drawing/2014/main" id="{3D2BFEB4-A939-07D0-D36E-3EFBE89AC7F7}"/>
              </a:ext>
            </a:extLst>
          </p:cNvPr>
          <p:cNvSpPr txBox="1"/>
          <p:nvPr/>
        </p:nvSpPr>
        <p:spPr>
          <a:xfrm>
            <a:off x="869794" y="6216935"/>
            <a:ext cx="7315200" cy="430952"/>
          </a:xfrm>
          <a:prstGeom prst="rect">
            <a:avLst/>
          </a:prstGeom>
          <a:noFill/>
        </p:spPr>
        <p:txBody>
          <a:bodyPr wrap="square">
            <a:spAutoFit/>
          </a:bodyPr>
          <a:lstStyle/>
          <a:p>
            <a:pPr marL="342900" indent="-342900" algn="l">
              <a:lnSpc>
                <a:spcPts val="2850"/>
              </a:lnSpc>
              <a:buSzPct val="100000"/>
              <a:buChar char="•"/>
            </a:pPr>
            <a:r>
              <a:rPr lang="en-US" sz="1800" dirty="0">
                <a:solidFill>
                  <a:srgbClr val="272525"/>
                </a:solidFill>
                <a:latin typeface="Inter" pitchFamily="34" charset="0"/>
                <a:ea typeface="Inter" pitchFamily="34" charset="-122"/>
                <a:cs typeface="Inter" pitchFamily="34" charset="-120"/>
              </a:rPr>
              <a:t>Enable geo-spatial visualization using maps</a:t>
            </a:r>
            <a:endParaRPr lang="en-US" sz="1800" dirty="0"/>
          </a:p>
        </p:txBody>
      </p:sp>
      <p:sp>
        <p:nvSpPr>
          <p:cNvPr id="26" name="TextBox 25">
            <a:extLst>
              <a:ext uri="{FF2B5EF4-FFF2-40B4-BE49-F238E27FC236}">
                <a16:creationId xmlns:a16="http://schemas.microsoft.com/office/drawing/2014/main" id="{B46B2F91-FC98-2E2F-B0D4-2A024D694538}"/>
              </a:ext>
            </a:extLst>
          </p:cNvPr>
          <p:cNvSpPr txBox="1"/>
          <p:nvPr/>
        </p:nvSpPr>
        <p:spPr>
          <a:xfrm>
            <a:off x="869795" y="6791030"/>
            <a:ext cx="7315200" cy="430952"/>
          </a:xfrm>
          <a:prstGeom prst="rect">
            <a:avLst/>
          </a:prstGeom>
          <a:noFill/>
        </p:spPr>
        <p:txBody>
          <a:bodyPr wrap="square">
            <a:spAutoFit/>
          </a:bodyPr>
          <a:lstStyle/>
          <a:p>
            <a:pPr marL="342900" indent="-342900" algn="l">
              <a:lnSpc>
                <a:spcPts val="2850"/>
              </a:lnSpc>
              <a:buSzPct val="100000"/>
              <a:buChar char="•"/>
            </a:pPr>
            <a:r>
              <a:rPr lang="en-US" sz="1800" dirty="0">
                <a:solidFill>
                  <a:srgbClr val="272525"/>
                </a:solidFill>
                <a:latin typeface="Inter" pitchFamily="34" charset="0"/>
                <a:ea typeface="Inter" pitchFamily="34" charset="-122"/>
                <a:cs typeface="Inter" pitchFamily="34" charset="-120"/>
              </a:rPr>
              <a:t>Build mobile application support</a:t>
            </a:r>
            <a:endParaRPr lang="en-US" sz="1800" dirty="0"/>
          </a:p>
        </p:txBody>
      </p:sp>
    </p:spTree>
    <p:extLst>
      <p:ext uri="{BB962C8B-B14F-4D97-AF65-F5344CB8AC3E}">
        <p14:creationId xmlns:p14="http://schemas.microsoft.com/office/powerpoint/2010/main" val="1408222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TotalTime>
  <Words>952</Words>
  <Application>Microsoft Office PowerPoint</Application>
  <PresentationFormat>Custom</PresentationFormat>
  <Paragraphs>126</Paragraphs>
  <Slides>12</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Calisto MT</vt:lpstr>
      <vt:lpstr>Petrona Bold</vt:lpstr>
      <vt:lpstr>Arial</vt:lpstr>
      <vt:lpstr>Inter</vt:lpstr>
      <vt:lpstr>Petrona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Abhay Singh</dc:creator>
  <cp:lastModifiedBy>Abhay Singh</cp:lastModifiedBy>
  <cp:revision>7</cp:revision>
  <dcterms:created xsi:type="dcterms:W3CDTF">2025-11-11T13:15:14Z</dcterms:created>
  <dcterms:modified xsi:type="dcterms:W3CDTF">2025-11-11T15:53:50Z</dcterms:modified>
</cp:coreProperties>
</file>